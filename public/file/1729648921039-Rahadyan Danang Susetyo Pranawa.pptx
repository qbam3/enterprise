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Maven Pro Heavy" charset="1" panose="00000A00000000000000"/>
      <p:regular r:id="rId23"/>
    </p:embeddedFont>
    <p:embeddedFont>
      <p:font typeface="Hind Jalandhar" charset="1" panose="02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111" r="0" b="-9111"/>
            </a:stretch>
          </a:blipFill>
        </p:spPr>
      </p:sp>
      <p:sp>
        <p:nvSpPr>
          <p:cNvPr name="Freeform 3" id="3"/>
          <p:cNvSpPr/>
          <p:nvPr/>
        </p:nvSpPr>
        <p:spPr>
          <a:xfrm flipH="true" flipV="true" rot="-5400000">
            <a:off x="2256475" y="248022"/>
            <a:ext cx="826980" cy="2344532"/>
          </a:xfrm>
          <a:custGeom>
            <a:avLst/>
            <a:gdLst/>
            <a:ahLst/>
            <a:cxnLst/>
            <a:rect r="r" b="b" t="t" l="l"/>
            <a:pathLst>
              <a:path h="2344532" w="826980">
                <a:moveTo>
                  <a:pt x="826980" y="2344532"/>
                </a:moveTo>
                <a:lnTo>
                  <a:pt x="0" y="2344532"/>
                </a:lnTo>
                <a:lnTo>
                  <a:pt x="0" y="0"/>
                </a:lnTo>
                <a:lnTo>
                  <a:pt x="826980" y="0"/>
                </a:lnTo>
                <a:lnTo>
                  <a:pt x="826980" y="23445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10800000">
            <a:off x="-15395" y="0"/>
            <a:ext cx="2549171" cy="5270842"/>
          </a:xfrm>
          <a:custGeom>
            <a:avLst/>
            <a:gdLst/>
            <a:ahLst/>
            <a:cxnLst/>
            <a:rect r="r" b="b" t="t" l="l"/>
            <a:pathLst>
              <a:path h="5270842" w="2549171">
                <a:moveTo>
                  <a:pt x="2549171" y="0"/>
                </a:moveTo>
                <a:lnTo>
                  <a:pt x="0" y="0"/>
                </a:lnTo>
                <a:lnTo>
                  <a:pt x="0" y="5270842"/>
                </a:lnTo>
                <a:lnTo>
                  <a:pt x="2549171" y="5270842"/>
                </a:lnTo>
                <a:lnTo>
                  <a:pt x="254917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2588597" y="798535"/>
            <a:ext cx="5699403" cy="1243506"/>
          </a:xfrm>
          <a:custGeom>
            <a:avLst/>
            <a:gdLst/>
            <a:ahLst/>
            <a:cxnLst/>
            <a:rect r="r" b="b" t="t" l="l"/>
            <a:pathLst>
              <a:path h="1243506" w="5699403">
                <a:moveTo>
                  <a:pt x="0" y="0"/>
                </a:moveTo>
                <a:lnTo>
                  <a:pt x="5699403" y="0"/>
                </a:lnTo>
                <a:lnTo>
                  <a:pt x="5699403" y="1243506"/>
                </a:lnTo>
                <a:lnTo>
                  <a:pt x="0" y="124350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true" flipV="false" rot="0">
            <a:off x="680039" y="8205555"/>
            <a:ext cx="5699403" cy="1243506"/>
          </a:xfrm>
          <a:custGeom>
            <a:avLst/>
            <a:gdLst/>
            <a:ahLst/>
            <a:cxnLst/>
            <a:rect r="r" b="b" t="t" l="l"/>
            <a:pathLst>
              <a:path h="1243506" w="5699403">
                <a:moveTo>
                  <a:pt x="5699403" y="0"/>
                </a:moveTo>
                <a:lnTo>
                  <a:pt x="0" y="0"/>
                </a:lnTo>
                <a:lnTo>
                  <a:pt x="0" y="1243507"/>
                </a:lnTo>
                <a:lnTo>
                  <a:pt x="5699403" y="1243507"/>
                </a:lnTo>
                <a:lnTo>
                  <a:pt x="5699403"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10800000">
            <a:off x="15757879" y="0"/>
            <a:ext cx="2549171" cy="5270842"/>
          </a:xfrm>
          <a:custGeom>
            <a:avLst/>
            <a:gdLst/>
            <a:ahLst/>
            <a:cxnLst/>
            <a:rect r="r" b="b" t="t" l="l"/>
            <a:pathLst>
              <a:path h="5270842" w="2549171">
                <a:moveTo>
                  <a:pt x="0" y="0"/>
                </a:moveTo>
                <a:lnTo>
                  <a:pt x="2549171" y="0"/>
                </a:lnTo>
                <a:lnTo>
                  <a:pt x="2549171" y="5270842"/>
                </a:lnTo>
                <a:lnTo>
                  <a:pt x="0" y="52708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25485" y="2729202"/>
            <a:ext cx="3655226" cy="7557798"/>
          </a:xfrm>
          <a:custGeom>
            <a:avLst/>
            <a:gdLst/>
            <a:ahLst/>
            <a:cxnLst/>
            <a:rect r="r" b="b" t="t" l="l"/>
            <a:pathLst>
              <a:path h="7557798" w="3655226">
                <a:moveTo>
                  <a:pt x="0" y="0"/>
                </a:moveTo>
                <a:lnTo>
                  <a:pt x="3655226" y="0"/>
                </a:lnTo>
                <a:lnTo>
                  <a:pt x="3655226" y="7557798"/>
                </a:lnTo>
                <a:lnTo>
                  <a:pt x="0" y="75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5400000">
            <a:off x="13967509" y="7672544"/>
            <a:ext cx="826980" cy="2344532"/>
          </a:xfrm>
          <a:custGeom>
            <a:avLst/>
            <a:gdLst/>
            <a:ahLst/>
            <a:cxnLst/>
            <a:rect r="r" b="b" t="t" l="l"/>
            <a:pathLst>
              <a:path h="2344532" w="826980">
                <a:moveTo>
                  <a:pt x="0" y="0"/>
                </a:moveTo>
                <a:lnTo>
                  <a:pt x="826980" y="0"/>
                </a:lnTo>
                <a:lnTo>
                  <a:pt x="826980" y="2344532"/>
                </a:lnTo>
                <a:lnTo>
                  <a:pt x="0" y="23445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0" id="10"/>
          <p:cNvSpPr/>
          <p:nvPr/>
        </p:nvSpPr>
        <p:spPr>
          <a:xfrm flipH="true" flipV="false" rot="0">
            <a:off x="14670874" y="2729202"/>
            <a:ext cx="3655226" cy="7557798"/>
          </a:xfrm>
          <a:custGeom>
            <a:avLst/>
            <a:gdLst/>
            <a:ahLst/>
            <a:cxnLst/>
            <a:rect r="r" b="b" t="t" l="l"/>
            <a:pathLst>
              <a:path h="7557798" w="3655226">
                <a:moveTo>
                  <a:pt x="3655226" y="0"/>
                </a:moveTo>
                <a:lnTo>
                  <a:pt x="0" y="0"/>
                </a:lnTo>
                <a:lnTo>
                  <a:pt x="0" y="7557798"/>
                </a:lnTo>
                <a:lnTo>
                  <a:pt x="3655226" y="7557798"/>
                </a:lnTo>
                <a:lnTo>
                  <a:pt x="365522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3741131" y="2404408"/>
            <a:ext cx="10805739" cy="1065676"/>
          </a:xfrm>
          <a:prstGeom prst="rect">
            <a:avLst/>
          </a:prstGeom>
        </p:spPr>
        <p:txBody>
          <a:bodyPr anchor="t" rtlCol="false" tIns="0" lIns="0" bIns="0" rIns="0">
            <a:spAutoFit/>
          </a:bodyPr>
          <a:lstStyle/>
          <a:p>
            <a:pPr algn="ctr">
              <a:lnSpc>
                <a:spcPts val="8312"/>
              </a:lnSpc>
            </a:pPr>
            <a:r>
              <a:rPr lang="en-US" b="true" sz="7166">
                <a:solidFill>
                  <a:srgbClr val="FFFFFF"/>
                </a:solidFill>
                <a:latin typeface="Maven Pro Heavy"/>
                <a:ea typeface="Maven Pro Heavy"/>
                <a:cs typeface="Maven Pro Heavy"/>
                <a:sym typeface="Maven Pro Heavy"/>
              </a:rPr>
              <a:t>TEKNIK SAMPLING</a:t>
            </a:r>
          </a:p>
        </p:txBody>
      </p:sp>
      <p:sp>
        <p:nvSpPr>
          <p:cNvPr name="TextBox 12" id="12"/>
          <p:cNvSpPr txBox="true"/>
          <p:nvPr/>
        </p:nvSpPr>
        <p:spPr>
          <a:xfrm rot="0">
            <a:off x="3029798" y="4311146"/>
            <a:ext cx="12728081" cy="1938442"/>
          </a:xfrm>
          <a:prstGeom prst="rect">
            <a:avLst/>
          </a:prstGeom>
        </p:spPr>
        <p:txBody>
          <a:bodyPr anchor="t" rtlCol="false" tIns="0" lIns="0" bIns="0" rIns="0">
            <a:spAutoFit/>
          </a:bodyPr>
          <a:lstStyle/>
          <a:p>
            <a:pPr algn="ctr">
              <a:lnSpc>
                <a:spcPts val="8312"/>
              </a:lnSpc>
            </a:pPr>
            <a:r>
              <a:rPr lang="en-US" b="true" sz="7166">
                <a:solidFill>
                  <a:srgbClr val="F8E16C"/>
                </a:solidFill>
                <a:latin typeface="Maven Pro Heavy"/>
                <a:ea typeface="Maven Pro Heavy"/>
                <a:cs typeface="Maven Pro Heavy"/>
                <a:sym typeface="Maven Pro Heavy"/>
              </a:rPr>
              <a:t>RAHADYAN DANANG S.P</a:t>
            </a:r>
          </a:p>
          <a:p>
            <a:pPr algn="ctr">
              <a:lnSpc>
                <a:spcPts val="6959"/>
              </a:lnSpc>
            </a:pPr>
            <a:r>
              <a:rPr lang="en-US" b="true" sz="6000">
                <a:solidFill>
                  <a:srgbClr val="F8E16C"/>
                </a:solidFill>
                <a:latin typeface="Maven Pro Heavy"/>
                <a:ea typeface="Maven Pro Heavy"/>
                <a:cs typeface="Maven Pro Heavy"/>
                <a:sym typeface="Maven Pro Heavy"/>
              </a:rPr>
              <a:t>3123522018</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111" r="0" b="-9111"/>
            </a:stretch>
          </a:blipFill>
        </p:spPr>
      </p:sp>
      <p:grpSp>
        <p:nvGrpSpPr>
          <p:cNvPr name="Group 3" id="3"/>
          <p:cNvGrpSpPr/>
          <p:nvPr/>
        </p:nvGrpSpPr>
        <p:grpSpPr>
          <a:xfrm rot="0">
            <a:off x="685003" y="776779"/>
            <a:ext cx="16917995" cy="8733442"/>
            <a:chOff x="0" y="0"/>
            <a:chExt cx="4455768" cy="2300166"/>
          </a:xfrm>
        </p:grpSpPr>
        <p:sp>
          <p:nvSpPr>
            <p:cNvPr name="Freeform 4" id="4"/>
            <p:cNvSpPr/>
            <p:nvPr/>
          </p:nvSpPr>
          <p:spPr>
            <a:xfrm flipH="false" flipV="false" rot="0">
              <a:off x="0" y="0"/>
              <a:ext cx="4455768" cy="2300166"/>
            </a:xfrm>
            <a:custGeom>
              <a:avLst/>
              <a:gdLst/>
              <a:ahLst/>
              <a:cxnLst/>
              <a:rect r="r" b="b" t="t" l="l"/>
              <a:pathLst>
                <a:path h="2300166" w="4455768">
                  <a:moveTo>
                    <a:pt x="0" y="0"/>
                  </a:moveTo>
                  <a:lnTo>
                    <a:pt x="4455768" y="0"/>
                  </a:lnTo>
                  <a:lnTo>
                    <a:pt x="4455768" y="2300166"/>
                  </a:lnTo>
                  <a:lnTo>
                    <a:pt x="0" y="2300166"/>
                  </a:lnTo>
                  <a:close/>
                </a:path>
              </a:pathLst>
            </a:custGeom>
            <a:solidFill>
              <a:srgbClr val="000000">
                <a:alpha val="0"/>
              </a:srgbClr>
            </a:solidFill>
            <a:ln w="95250" cap="sq">
              <a:solidFill>
                <a:srgbClr val="B8A141"/>
              </a:solidFill>
              <a:prstDash val="solid"/>
              <a:miter/>
            </a:ln>
          </p:spPr>
        </p:sp>
        <p:sp>
          <p:nvSpPr>
            <p:cNvPr name="TextBox 5" id="5"/>
            <p:cNvSpPr txBox="true"/>
            <p:nvPr/>
          </p:nvSpPr>
          <p:spPr>
            <a:xfrm>
              <a:off x="0" y="-38100"/>
              <a:ext cx="4455768" cy="233826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5400000">
            <a:off x="3106723" y="1149730"/>
            <a:ext cx="624449" cy="1770344"/>
          </a:xfrm>
          <a:custGeom>
            <a:avLst/>
            <a:gdLst/>
            <a:ahLst/>
            <a:cxnLst/>
            <a:rect r="r" b="b" t="t" l="l"/>
            <a:pathLst>
              <a:path h="1770344" w="624449">
                <a:moveTo>
                  <a:pt x="624449" y="1770344"/>
                </a:moveTo>
                <a:lnTo>
                  <a:pt x="0" y="1770344"/>
                </a:lnTo>
                <a:lnTo>
                  <a:pt x="0" y="0"/>
                </a:lnTo>
                <a:lnTo>
                  <a:pt x="624449" y="0"/>
                </a:lnTo>
                <a:lnTo>
                  <a:pt x="624449" y="177034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false" rot="-10800000">
            <a:off x="-15395" y="0"/>
            <a:ext cx="2549171" cy="5270842"/>
          </a:xfrm>
          <a:custGeom>
            <a:avLst/>
            <a:gdLst/>
            <a:ahLst/>
            <a:cxnLst/>
            <a:rect r="r" b="b" t="t" l="l"/>
            <a:pathLst>
              <a:path h="5270842" w="2549171">
                <a:moveTo>
                  <a:pt x="2549171" y="0"/>
                </a:moveTo>
                <a:lnTo>
                  <a:pt x="0" y="0"/>
                </a:lnTo>
                <a:lnTo>
                  <a:pt x="0" y="5270842"/>
                </a:lnTo>
                <a:lnTo>
                  <a:pt x="2549171" y="5270842"/>
                </a:lnTo>
                <a:lnTo>
                  <a:pt x="254917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10800000">
            <a:off x="15757879" y="0"/>
            <a:ext cx="2549171" cy="5270842"/>
          </a:xfrm>
          <a:custGeom>
            <a:avLst/>
            <a:gdLst/>
            <a:ahLst/>
            <a:cxnLst/>
            <a:rect r="r" b="b" t="t" l="l"/>
            <a:pathLst>
              <a:path h="5270842" w="2549171">
                <a:moveTo>
                  <a:pt x="0" y="0"/>
                </a:moveTo>
                <a:lnTo>
                  <a:pt x="2549171" y="0"/>
                </a:lnTo>
                <a:lnTo>
                  <a:pt x="2549171" y="5270842"/>
                </a:lnTo>
                <a:lnTo>
                  <a:pt x="0" y="52708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818802">
            <a:off x="-983065" y="2892003"/>
            <a:ext cx="3655226" cy="7557798"/>
          </a:xfrm>
          <a:custGeom>
            <a:avLst/>
            <a:gdLst/>
            <a:ahLst/>
            <a:cxnLst/>
            <a:rect r="r" b="b" t="t" l="l"/>
            <a:pathLst>
              <a:path h="7557798" w="3655226">
                <a:moveTo>
                  <a:pt x="0" y="0"/>
                </a:moveTo>
                <a:lnTo>
                  <a:pt x="3655226" y="0"/>
                </a:lnTo>
                <a:lnTo>
                  <a:pt x="3655226" y="7557798"/>
                </a:lnTo>
                <a:lnTo>
                  <a:pt x="0" y="75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true" flipV="false" rot="-696796">
            <a:off x="15483649" y="2925969"/>
            <a:ext cx="3655226" cy="7557798"/>
          </a:xfrm>
          <a:custGeom>
            <a:avLst/>
            <a:gdLst/>
            <a:ahLst/>
            <a:cxnLst/>
            <a:rect r="r" b="b" t="t" l="l"/>
            <a:pathLst>
              <a:path h="7557798" w="3655226">
                <a:moveTo>
                  <a:pt x="3655226" y="0"/>
                </a:moveTo>
                <a:lnTo>
                  <a:pt x="0" y="0"/>
                </a:lnTo>
                <a:lnTo>
                  <a:pt x="0" y="7557799"/>
                </a:lnTo>
                <a:lnTo>
                  <a:pt x="3655226" y="7557799"/>
                </a:lnTo>
                <a:lnTo>
                  <a:pt x="3655226"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1" id="11"/>
          <p:cNvGrpSpPr/>
          <p:nvPr/>
        </p:nvGrpSpPr>
        <p:grpSpPr>
          <a:xfrm rot="0">
            <a:off x="2533776" y="3989216"/>
            <a:ext cx="467043" cy="467043"/>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D1B852"/>
            </a:solidFill>
          </p:spPr>
        </p:sp>
        <p:sp>
          <p:nvSpPr>
            <p:cNvPr name="TextBox 13" id="13"/>
            <p:cNvSpPr txBox="true"/>
            <p:nvPr/>
          </p:nvSpPr>
          <p:spPr>
            <a:xfrm>
              <a:off x="0" y="165100"/>
              <a:ext cx="711200" cy="4445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2533776" y="5495918"/>
            <a:ext cx="467043" cy="467043"/>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D1B852"/>
            </a:solidFill>
          </p:spPr>
        </p:sp>
        <p:sp>
          <p:nvSpPr>
            <p:cNvPr name="TextBox 16" id="16"/>
            <p:cNvSpPr txBox="true"/>
            <p:nvPr/>
          </p:nvSpPr>
          <p:spPr>
            <a:xfrm>
              <a:off x="0" y="165100"/>
              <a:ext cx="711200" cy="444500"/>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4304120" y="1655071"/>
            <a:ext cx="9179654" cy="769188"/>
          </a:xfrm>
          <a:prstGeom prst="rect">
            <a:avLst/>
          </a:prstGeom>
        </p:spPr>
        <p:txBody>
          <a:bodyPr anchor="t" rtlCol="false" tIns="0" lIns="0" bIns="0" rIns="0">
            <a:spAutoFit/>
          </a:bodyPr>
          <a:lstStyle/>
          <a:p>
            <a:pPr algn="ctr">
              <a:lnSpc>
                <a:spcPts val="5991"/>
              </a:lnSpc>
            </a:pPr>
            <a:r>
              <a:rPr lang="en-US" b="true" sz="5164">
                <a:solidFill>
                  <a:srgbClr val="FFFFFF"/>
                </a:solidFill>
                <a:latin typeface="Maven Pro Heavy"/>
                <a:ea typeface="Maven Pro Heavy"/>
                <a:cs typeface="Maven Pro Heavy"/>
                <a:sym typeface="Maven Pro Heavy"/>
              </a:rPr>
              <a:t>TABLE OF CONTENTS</a:t>
            </a:r>
          </a:p>
        </p:txBody>
      </p:sp>
      <p:sp>
        <p:nvSpPr>
          <p:cNvPr name="TextBox 18" id="18"/>
          <p:cNvSpPr txBox="true"/>
          <p:nvPr/>
        </p:nvSpPr>
        <p:spPr>
          <a:xfrm rot="0">
            <a:off x="3388942" y="3935389"/>
            <a:ext cx="10983286" cy="489278"/>
          </a:xfrm>
          <a:prstGeom prst="rect">
            <a:avLst/>
          </a:prstGeom>
        </p:spPr>
        <p:txBody>
          <a:bodyPr anchor="t" rtlCol="false" tIns="0" lIns="0" bIns="0" rIns="0">
            <a:spAutoFit/>
          </a:bodyPr>
          <a:lstStyle/>
          <a:p>
            <a:pPr algn="l">
              <a:lnSpc>
                <a:spcPts val="4006"/>
              </a:lnSpc>
              <a:spcBef>
                <a:spcPct val="0"/>
              </a:spcBef>
            </a:pPr>
            <a:r>
              <a:rPr lang="en-US" sz="2862">
                <a:solidFill>
                  <a:srgbClr val="FFFFFF"/>
                </a:solidFill>
                <a:latin typeface="Hind Jalandhar"/>
                <a:ea typeface="Hind Jalandhar"/>
                <a:cs typeface="Hind Jalandhar"/>
                <a:sym typeface="Hind Jalandhar"/>
              </a:rPr>
              <a:t>Definisi Teknik Sampling</a:t>
            </a:r>
          </a:p>
        </p:txBody>
      </p:sp>
      <p:sp>
        <p:nvSpPr>
          <p:cNvPr name="TextBox 19" id="19"/>
          <p:cNvSpPr txBox="true"/>
          <p:nvPr/>
        </p:nvSpPr>
        <p:spPr>
          <a:xfrm rot="0">
            <a:off x="3388942" y="5442091"/>
            <a:ext cx="10983286" cy="489278"/>
          </a:xfrm>
          <a:prstGeom prst="rect">
            <a:avLst/>
          </a:prstGeom>
        </p:spPr>
        <p:txBody>
          <a:bodyPr anchor="t" rtlCol="false" tIns="0" lIns="0" bIns="0" rIns="0">
            <a:spAutoFit/>
          </a:bodyPr>
          <a:lstStyle/>
          <a:p>
            <a:pPr algn="l">
              <a:lnSpc>
                <a:spcPts val="4006"/>
              </a:lnSpc>
              <a:spcBef>
                <a:spcPct val="0"/>
              </a:spcBef>
            </a:pPr>
            <a:r>
              <a:rPr lang="en-US" sz="2862">
                <a:solidFill>
                  <a:srgbClr val="FFFFFF"/>
                </a:solidFill>
                <a:latin typeface="Hind Jalandhar"/>
                <a:ea typeface="Hind Jalandhar"/>
                <a:cs typeface="Hind Jalandhar"/>
                <a:sym typeface="Hind Jalandhar"/>
              </a:rPr>
              <a:t>11 Contoh Teknik Sampling</a:t>
            </a:r>
          </a:p>
        </p:txBody>
      </p:sp>
      <p:grpSp>
        <p:nvGrpSpPr>
          <p:cNvPr name="Group 20" id="20"/>
          <p:cNvGrpSpPr/>
          <p:nvPr/>
        </p:nvGrpSpPr>
        <p:grpSpPr>
          <a:xfrm rot="0">
            <a:off x="2533776" y="7002619"/>
            <a:ext cx="467043" cy="467043"/>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D1B852"/>
            </a:solidFill>
          </p:spPr>
        </p:sp>
        <p:sp>
          <p:nvSpPr>
            <p:cNvPr name="TextBox 22" id="22"/>
            <p:cNvSpPr txBox="true"/>
            <p:nvPr/>
          </p:nvSpPr>
          <p:spPr>
            <a:xfrm>
              <a:off x="0" y="165100"/>
              <a:ext cx="711200" cy="444500"/>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3388942" y="6948792"/>
            <a:ext cx="10983286" cy="489278"/>
          </a:xfrm>
          <a:prstGeom prst="rect">
            <a:avLst/>
          </a:prstGeom>
        </p:spPr>
        <p:txBody>
          <a:bodyPr anchor="t" rtlCol="false" tIns="0" lIns="0" bIns="0" rIns="0">
            <a:spAutoFit/>
          </a:bodyPr>
          <a:lstStyle/>
          <a:p>
            <a:pPr algn="l">
              <a:lnSpc>
                <a:spcPts val="4006"/>
              </a:lnSpc>
              <a:spcBef>
                <a:spcPct val="0"/>
              </a:spcBef>
            </a:pPr>
            <a:r>
              <a:rPr lang="en-US" sz="2862">
                <a:solidFill>
                  <a:srgbClr val="FFFFFF"/>
                </a:solidFill>
                <a:latin typeface="Hind Jalandhar"/>
                <a:ea typeface="Hind Jalandhar"/>
                <a:cs typeface="Hind Jalandhar"/>
                <a:sym typeface="Hind Jalandhar"/>
              </a:rPr>
              <a:t>Kesimpulan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111" r="0" b="-9111"/>
            </a:stretch>
          </a:blipFill>
        </p:spPr>
      </p:sp>
      <p:grpSp>
        <p:nvGrpSpPr>
          <p:cNvPr name="Group 3" id="3"/>
          <p:cNvGrpSpPr/>
          <p:nvPr/>
        </p:nvGrpSpPr>
        <p:grpSpPr>
          <a:xfrm rot="0">
            <a:off x="685003" y="776779"/>
            <a:ext cx="16917995" cy="8733442"/>
            <a:chOff x="0" y="0"/>
            <a:chExt cx="4455768" cy="2300166"/>
          </a:xfrm>
        </p:grpSpPr>
        <p:sp>
          <p:nvSpPr>
            <p:cNvPr name="Freeform 4" id="4"/>
            <p:cNvSpPr/>
            <p:nvPr/>
          </p:nvSpPr>
          <p:spPr>
            <a:xfrm flipH="false" flipV="false" rot="0">
              <a:off x="0" y="0"/>
              <a:ext cx="4455768" cy="2300166"/>
            </a:xfrm>
            <a:custGeom>
              <a:avLst/>
              <a:gdLst/>
              <a:ahLst/>
              <a:cxnLst/>
              <a:rect r="r" b="b" t="t" l="l"/>
              <a:pathLst>
                <a:path h="2300166" w="4455768">
                  <a:moveTo>
                    <a:pt x="0" y="0"/>
                  </a:moveTo>
                  <a:lnTo>
                    <a:pt x="4455768" y="0"/>
                  </a:lnTo>
                  <a:lnTo>
                    <a:pt x="4455768" y="2300166"/>
                  </a:lnTo>
                  <a:lnTo>
                    <a:pt x="0" y="2300166"/>
                  </a:lnTo>
                  <a:close/>
                </a:path>
              </a:pathLst>
            </a:custGeom>
            <a:solidFill>
              <a:srgbClr val="000000">
                <a:alpha val="0"/>
              </a:srgbClr>
            </a:solidFill>
            <a:ln w="95250" cap="sq">
              <a:solidFill>
                <a:srgbClr val="B8A141"/>
              </a:solidFill>
              <a:prstDash val="solid"/>
              <a:miter/>
            </a:ln>
          </p:spPr>
        </p:sp>
        <p:sp>
          <p:nvSpPr>
            <p:cNvPr name="TextBox 5" id="5"/>
            <p:cNvSpPr txBox="true"/>
            <p:nvPr/>
          </p:nvSpPr>
          <p:spPr>
            <a:xfrm>
              <a:off x="0" y="-38100"/>
              <a:ext cx="4455768" cy="233826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5400000">
            <a:off x="3106723" y="1149730"/>
            <a:ext cx="624449" cy="1770344"/>
          </a:xfrm>
          <a:custGeom>
            <a:avLst/>
            <a:gdLst/>
            <a:ahLst/>
            <a:cxnLst/>
            <a:rect r="r" b="b" t="t" l="l"/>
            <a:pathLst>
              <a:path h="1770344" w="624449">
                <a:moveTo>
                  <a:pt x="624449" y="1770344"/>
                </a:moveTo>
                <a:lnTo>
                  <a:pt x="0" y="1770344"/>
                </a:lnTo>
                <a:lnTo>
                  <a:pt x="0" y="0"/>
                </a:lnTo>
                <a:lnTo>
                  <a:pt x="624449" y="0"/>
                </a:lnTo>
                <a:lnTo>
                  <a:pt x="624449" y="177034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false" rot="-10800000">
            <a:off x="-15395" y="0"/>
            <a:ext cx="2549171" cy="5270842"/>
          </a:xfrm>
          <a:custGeom>
            <a:avLst/>
            <a:gdLst/>
            <a:ahLst/>
            <a:cxnLst/>
            <a:rect r="r" b="b" t="t" l="l"/>
            <a:pathLst>
              <a:path h="5270842" w="2549171">
                <a:moveTo>
                  <a:pt x="2549171" y="0"/>
                </a:moveTo>
                <a:lnTo>
                  <a:pt x="0" y="0"/>
                </a:lnTo>
                <a:lnTo>
                  <a:pt x="0" y="5270842"/>
                </a:lnTo>
                <a:lnTo>
                  <a:pt x="2549171" y="5270842"/>
                </a:lnTo>
                <a:lnTo>
                  <a:pt x="254917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10800000">
            <a:off x="15757879" y="0"/>
            <a:ext cx="2549171" cy="5270842"/>
          </a:xfrm>
          <a:custGeom>
            <a:avLst/>
            <a:gdLst/>
            <a:ahLst/>
            <a:cxnLst/>
            <a:rect r="r" b="b" t="t" l="l"/>
            <a:pathLst>
              <a:path h="5270842" w="2549171">
                <a:moveTo>
                  <a:pt x="0" y="0"/>
                </a:moveTo>
                <a:lnTo>
                  <a:pt x="2549171" y="0"/>
                </a:lnTo>
                <a:lnTo>
                  <a:pt x="2549171" y="5270842"/>
                </a:lnTo>
                <a:lnTo>
                  <a:pt x="0" y="52708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818802">
            <a:off x="-983065" y="2892003"/>
            <a:ext cx="3655226" cy="7557798"/>
          </a:xfrm>
          <a:custGeom>
            <a:avLst/>
            <a:gdLst/>
            <a:ahLst/>
            <a:cxnLst/>
            <a:rect r="r" b="b" t="t" l="l"/>
            <a:pathLst>
              <a:path h="7557798" w="3655226">
                <a:moveTo>
                  <a:pt x="0" y="0"/>
                </a:moveTo>
                <a:lnTo>
                  <a:pt x="3655226" y="0"/>
                </a:lnTo>
                <a:lnTo>
                  <a:pt x="3655226" y="7557798"/>
                </a:lnTo>
                <a:lnTo>
                  <a:pt x="0" y="75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true" flipV="false" rot="-696796">
            <a:off x="15483649" y="2925969"/>
            <a:ext cx="3655226" cy="7557798"/>
          </a:xfrm>
          <a:custGeom>
            <a:avLst/>
            <a:gdLst/>
            <a:ahLst/>
            <a:cxnLst/>
            <a:rect r="r" b="b" t="t" l="l"/>
            <a:pathLst>
              <a:path h="7557798" w="3655226">
                <a:moveTo>
                  <a:pt x="3655226" y="0"/>
                </a:moveTo>
                <a:lnTo>
                  <a:pt x="0" y="0"/>
                </a:lnTo>
                <a:lnTo>
                  <a:pt x="0" y="7557799"/>
                </a:lnTo>
                <a:lnTo>
                  <a:pt x="3655226" y="7557799"/>
                </a:lnTo>
                <a:lnTo>
                  <a:pt x="365522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2138354" y="4252951"/>
            <a:ext cx="3721663" cy="2594857"/>
          </a:xfrm>
          <a:custGeom>
            <a:avLst/>
            <a:gdLst/>
            <a:ahLst/>
            <a:cxnLst/>
            <a:rect r="r" b="b" t="t" l="l"/>
            <a:pathLst>
              <a:path h="2594857" w="3721663">
                <a:moveTo>
                  <a:pt x="0" y="0"/>
                </a:moveTo>
                <a:lnTo>
                  <a:pt x="3721662" y="0"/>
                </a:lnTo>
                <a:lnTo>
                  <a:pt x="3721662" y="2594857"/>
                </a:lnTo>
                <a:lnTo>
                  <a:pt x="0" y="259485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4713347" y="1655071"/>
            <a:ext cx="9179654" cy="769188"/>
          </a:xfrm>
          <a:prstGeom prst="rect">
            <a:avLst/>
          </a:prstGeom>
        </p:spPr>
        <p:txBody>
          <a:bodyPr anchor="t" rtlCol="false" tIns="0" lIns="0" bIns="0" rIns="0">
            <a:spAutoFit/>
          </a:bodyPr>
          <a:lstStyle/>
          <a:p>
            <a:pPr algn="l">
              <a:lnSpc>
                <a:spcPts val="5991"/>
              </a:lnSpc>
            </a:pPr>
            <a:r>
              <a:rPr lang="en-US" sz="5164" b="true">
                <a:solidFill>
                  <a:srgbClr val="FFFFFF"/>
                </a:solidFill>
                <a:latin typeface="Maven Pro Heavy"/>
                <a:ea typeface="Maven Pro Heavy"/>
                <a:cs typeface="Maven Pro Heavy"/>
                <a:sym typeface="Maven Pro Heavy"/>
              </a:rPr>
              <a:t>Definisi Teknik Sampling</a:t>
            </a:r>
          </a:p>
        </p:txBody>
      </p:sp>
      <p:sp>
        <p:nvSpPr>
          <p:cNvPr name="TextBox 13" id="13"/>
          <p:cNvSpPr txBox="true"/>
          <p:nvPr/>
        </p:nvSpPr>
        <p:spPr>
          <a:xfrm rot="0">
            <a:off x="6508869" y="3735566"/>
            <a:ext cx="9249010" cy="3013403"/>
          </a:xfrm>
          <a:prstGeom prst="rect">
            <a:avLst/>
          </a:prstGeom>
        </p:spPr>
        <p:txBody>
          <a:bodyPr anchor="t" rtlCol="false" tIns="0" lIns="0" bIns="0" rIns="0">
            <a:spAutoFit/>
          </a:bodyPr>
          <a:lstStyle/>
          <a:p>
            <a:pPr algn="just">
              <a:lnSpc>
                <a:spcPts val="4006"/>
              </a:lnSpc>
            </a:pPr>
            <a:r>
              <a:rPr lang="en-US" sz="2862">
                <a:solidFill>
                  <a:srgbClr val="FFFFFF"/>
                </a:solidFill>
                <a:latin typeface="Hind Jalandhar"/>
                <a:ea typeface="Hind Jalandhar"/>
                <a:cs typeface="Hind Jalandhar"/>
                <a:sym typeface="Hind Jalandhar"/>
              </a:rPr>
              <a:t>Sampling adalah teknik untuk memilih sebagian dari populasi yang dijadikan sebagai subjek penelitian. Menurut Sugiyono (2012), sampling merupakan proses pemilihan individu dari populasi dengan cara yang dapat mewakili karakteristik populasi secara keseluruhan.</a:t>
            </a:r>
          </a:p>
          <a:p>
            <a:pPr algn="just">
              <a:lnSpc>
                <a:spcPts val="4006"/>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111" r="0" b="-9111"/>
            </a:stretch>
          </a:blipFill>
        </p:spPr>
      </p:sp>
      <p:grpSp>
        <p:nvGrpSpPr>
          <p:cNvPr name="Group 3" id="3"/>
          <p:cNvGrpSpPr/>
          <p:nvPr/>
        </p:nvGrpSpPr>
        <p:grpSpPr>
          <a:xfrm rot="0">
            <a:off x="685003" y="776779"/>
            <a:ext cx="16917995" cy="8733442"/>
            <a:chOff x="0" y="0"/>
            <a:chExt cx="4455768" cy="2300166"/>
          </a:xfrm>
        </p:grpSpPr>
        <p:sp>
          <p:nvSpPr>
            <p:cNvPr name="Freeform 4" id="4"/>
            <p:cNvSpPr/>
            <p:nvPr/>
          </p:nvSpPr>
          <p:spPr>
            <a:xfrm flipH="false" flipV="false" rot="0">
              <a:off x="0" y="0"/>
              <a:ext cx="4455768" cy="2300166"/>
            </a:xfrm>
            <a:custGeom>
              <a:avLst/>
              <a:gdLst/>
              <a:ahLst/>
              <a:cxnLst/>
              <a:rect r="r" b="b" t="t" l="l"/>
              <a:pathLst>
                <a:path h="2300166" w="4455768">
                  <a:moveTo>
                    <a:pt x="0" y="0"/>
                  </a:moveTo>
                  <a:lnTo>
                    <a:pt x="4455768" y="0"/>
                  </a:lnTo>
                  <a:lnTo>
                    <a:pt x="4455768" y="2300166"/>
                  </a:lnTo>
                  <a:lnTo>
                    <a:pt x="0" y="2300166"/>
                  </a:lnTo>
                  <a:close/>
                </a:path>
              </a:pathLst>
            </a:custGeom>
            <a:solidFill>
              <a:srgbClr val="000000">
                <a:alpha val="0"/>
              </a:srgbClr>
            </a:solidFill>
            <a:ln w="95250" cap="sq">
              <a:solidFill>
                <a:srgbClr val="B8A141"/>
              </a:solidFill>
              <a:prstDash val="solid"/>
              <a:miter/>
            </a:ln>
          </p:spPr>
        </p:sp>
        <p:sp>
          <p:nvSpPr>
            <p:cNvPr name="TextBox 5" id="5"/>
            <p:cNvSpPr txBox="true"/>
            <p:nvPr/>
          </p:nvSpPr>
          <p:spPr>
            <a:xfrm>
              <a:off x="0" y="-38100"/>
              <a:ext cx="4455768" cy="233826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5400000">
            <a:off x="3106723" y="1149730"/>
            <a:ext cx="624449" cy="1770344"/>
          </a:xfrm>
          <a:custGeom>
            <a:avLst/>
            <a:gdLst/>
            <a:ahLst/>
            <a:cxnLst/>
            <a:rect r="r" b="b" t="t" l="l"/>
            <a:pathLst>
              <a:path h="1770344" w="624449">
                <a:moveTo>
                  <a:pt x="624449" y="1770344"/>
                </a:moveTo>
                <a:lnTo>
                  <a:pt x="0" y="1770344"/>
                </a:lnTo>
                <a:lnTo>
                  <a:pt x="0" y="0"/>
                </a:lnTo>
                <a:lnTo>
                  <a:pt x="624449" y="0"/>
                </a:lnTo>
                <a:lnTo>
                  <a:pt x="624449" y="177034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false" rot="-10800000">
            <a:off x="-15395" y="0"/>
            <a:ext cx="2549171" cy="5270842"/>
          </a:xfrm>
          <a:custGeom>
            <a:avLst/>
            <a:gdLst/>
            <a:ahLst/>
            <a:cxnLst/>
            <a:rect r="r" b="b" t="t" l="l"/>
            <a:pathLst>
              <a:path h="5270842" w="2549171">
                <a:moveTo>
                  <a:pt x="2549171" y="0"/>
                </a:moveTo>
                <a:lnTo>
                  <a:pt x="0" y="0"/>
                </a:lnTo>
                <a:lnTo>
                  <a:pt x="0" y="5270842"/>
                </a:lnTo>
                <a:lnTo>
                  <a:pt x="2549171" y="5270842"/>
                </a:lnTo>
                <a:lnTo>
                  <a:pt x="254917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10800000">
            <a:off x="15757879" y="0"/>
            <a:ext cx="2549171" cy="5270842"/>
          </a:xfrm>
          <a:custGeom>
            <a:avLst/>
            <a:gdLst/>
            <a:ahLst/>
            <a:cxnLst/>
            <a:rect r="r" b="b" t="t" l="l"/>
            <a:pathLst>
              <a:path h="5270842" w="2549171">
                <a:moveTo>
                  <a:pt x="0" y="0"/>
                </a:moveTo>
                <a:lnTo>
                  <a:pt x="2549171" y="0"/>
                </a:lnTo>
                <a:lnTo>
                  <a:pt x="2549171" y="5270842"/>
                </a:lnTo>
                <a:lnTo>
                  <a:pt x="0" y="52708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818802">
            <a:off x="-983065" y="2892003"/>
            <a:ext cx="3655226" cy="7557798"/>
          </a:xfrm>
          <a:custGeom>
            <a:avLst/>
            <a:gdLst/>
            <a:ahLst/>
            <a:cxnLst/>
            <a:rect r="r" b="b" t="t" l="l"/>
            <a:pathLst>
              <a:path h="7557798" w="3655226">
                <a:moveTo>
                  <a:pt x="0" y="0"/>
                </a:moveTo>
                <a:lnTo>
                  <a:pt x="3655226" y="0"/>
                </a:lnTo>
                <a:lnTo>
                  <a:pt x="3655226" y="7557798"/>
                </a:lnTo>
                <a:lnTo>
                  <a:pt x="0" y="75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true" flipV="false" rot="-696796">
            <a:off x="15483649" y="2925969"/>
            <a:ext cx="3655226" cy="7557798"/>
          </a:xfrm>
          <a:custGeom>
            <a:avLst/>
            <a:gdLst/>
            <a:ahLst/>
            <a:cxnLst/>
            <a:rect r="r" b="b" t="t" l="l"/>
            <a:pathLst>
              <a:path h="7557798" w="3655226">
                <a:moveTo>
                  <a:pt x="3655226" y="0"/>
                </a:moveTo>
                <a:lnTo>
                  <a:pt x="0" y="0"/>
                </a:lnTo>
                <a:lnTo>
                  <a:pt x="0" y="7557799"/>
                </a:lnTo>
                <a:lnTo>
                  <a:pt x="3655226" y="7557799"/>
                </a:lnTo>
                <a:lnTo>
                  <a:pt x="365522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2151498" y="3749315"/>
            <a:ext cx="3781646" cy="3781646"/>
          </a:xfrm>
          <a:custGeom>
            <a:avLst/>
            <a:gdLst/>
            <a:ahLst/>
            <a:cxnLst/>
            <a:rect r="r" b="b" t="t" l="l"/>
            <a:pathLst>
              <a:path h="3781646" w="3781646">
                <a:moveTo>
                  <a:pt x="0" y="0"/>
                </a:moveTo>
                <a:lnTo>
                  <a:pt x="3781646" y="0"/>
                </a:lnTo>
                <a:lnTo>
                  <a:pt x="3781646" y="3781646"/>
                </a:lnTo>
                <a:lnTo>
                  <a:pt x="0" y="37816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4713347" y="1655071"/>
            <a:ext cx="10530105" cy="769188"/>
          </a:xfrm>
          <a:prstGeom prst="rect">
            <a:avLst/>
          </a:prstGeom>
        </p:spPr>
        <p:txBody>
          <a:bodyPr anchor="t" rtlCol="false" tIns="0" lIns="0" bIns="0" rIns="0">
            <a:spAutoFit/>
          </a:bodyPr>
          <a:lstStyle/>
          <a:p>
            <a:pPr algn="l">
              <a:lnSpc>
                <a:spcPts val="5991"/>
              </a:lnSpc>
            </a:pPr>
            <a:r>
              <a:rPr lang="en-US" sz="5164" b="true">
                <a:solidFill>
                  <a:srgbClr val="FFFFFF"/>
                </a:solidFill>
                <a:latin typeface="Maven Pro Heavy"/>
                <a:ea typeface="Maven Pro Heavy"/>
                <a:cs typeface="Maven Pro Heavy"/>
                <a:sym typeface="Maven Pro Heavy"/>
              </a:rPr>
              <a:t>11 Teknik Sampling</a:t>
            </a:r>
          </a:p>
        </p:txBody>
      </p:sp>
      <p:sp>
        <p:nvSpPr>
          <p:cNvPr name="TextBox 13" id="13"/>
          <p:cNvSpPr txBox="true"/>
          <p:nvPr/>
        </p:nvSpPr>
        <p:spPr>
          <a:xfrm rot="0">
            <a:off x="2533776" y="2814018"/>
            <a:ext cx="9130275" cy="6042353"/>
          </a:xfrm>
          <a:prstGeom prst="rect">
            <a:avLst/>
          </a:prstGeom>
        </p:spPr>
        <p:txBody>
          <a:bodyPr anchor="t" rtlCol="false" tIns="0" lIns="0" bIns="0" rIns="0">
            <a:spAutoFit/>
          </a:bodyPr>
          <a:lstStyle/>
          <a:p>
            <a:pPr algn="just">
              <a:lnSpc>
                <a:spcPts val="4006"/>
              </a:lnSpc>
            </a:pPr>
            <a:r>
              <a:rPr lang="en-US" sz="2862">
                <a:solidFill>
                  <a:srgbClr val="FFFFFF"/>
                </a:solidFill>
                <a:latin typeface="Hind Jalandhar"/>
                <a:ea typeface="Hind Jalandhar"/>
                <a:cs typeface="Hind Jalandhar"/>
                <a:sym typeface="Hind Jalandhar"/>
              </a:rPr>
              <a:t>Teknik untuk pengambilan sampel ada 11 macam, yaitu:</a:t>
            </a:r>
          </a:p>
          <a:p>
            <a:pPr algn="just" marL="617920" indent="-308960" lvl="1">
              <a:lnSpc>
                <a:spcPts val="4006"/>
              </a:lnSpc>
              <a:buAutoNum type="arabicPeriod" startAt="1"/>
            </a:pPr>
            <a:r>
              <a:rPr lang="en-US" sz="2862">
                <a:solidFill>
                  <a:srgbClr val="FFFFFF"/>
                </a:solidFill>
                <a:latin typeface="Hind Jalandhar"/>
                <a:ea typeface="Hind Jalandhar"/>
                <a:cs typeface="Hind Jalandhar"/>
                <a:sym typeface="Hind Jalandhar"/>
              </a:rPr>
              <a:t>Simple Random Sampling</a:t>
            </a:r>
          </a:p>
          <a:p>
            <a:pPr algn="just" marL="617920" indent="-308960" lvl="1">
              <a:lnSpc>
                <a:spcPts val="4006"/>
              </a:lnSpc>
              <a:buAutoNum type="arabicPeriod" startAt="1"/>
            </a:pPr>
            <a:r>
              <a:rPr lang="en-US" sz="2862">
                <a:solidFill>
                  <a:srgbClr val="FFFFFF"/>
                </a:solidFill>
                <a:latin typeface="Hind Jalandhar"/>
                <a:ea typeface="Hind Jalandhar"/>
                <a:cs typeface="Hind Jalandhar"/>
                <a:sym typeface="Hind Jalandhar"/>
              </a:rPr>
              <a:t>Systematic Sampling</a:t>
            </a:r>
          </a:p>
          <a:p>
            <a:pPr algn="just" marL="617920" indent="-308960" lvl="1">
              <a:lnSpc>
                <a:spcPts val="4006"/>
              </a:lnSpc>
              <a:buAutoNum type="arabicPeriod" startAt="1"/>
            </a:pPr>
            <a:r>
              <a:rPr lang="en-US" sz="2862">
                <a:solidFill>
                  <a:srgbClr val="FFFFFF"/>
                </a:solidFill>
                <a:latin typeface="Hind Jalandhar"/>
                <a:ea typeface="Hind Jalandhar"/>
                <a:cs typeface="Hind Jalandhar"/>
                <a:sym typeface="Hind Jalandhar"/>
              </a:rPr>
              <a:t>Stratified Sampling</a:t>
            </a:r>
          </a:p>
          <a:p>
            <a:pPr algn="just" marL="617920" indent="-308960" lvl="1">
              <a:lnSpc>
                <a:spcPts val="4006"/>
              </a:lnSpc>
              <a:buAutoNum type="arabicPeriod" startAt="1"/>
            </a:pPr>
            <a:r>
              <a:rPr lang="en-US" sz="2862">
                <a:solidFill>
                  <a:srgbClr val="FFFFFF"/>
                </a:solidFill>
                <a:latin typeface="Hind Jalandhar"/>
                <a:ea typeface="Hind Jalandhar"/>
                <a:cs typeface="Hind Jalandhar"/>
                <a:sym typeface="Hind Jalandhar"/>
              </a:rPr>
              <a:t>Cluster Sampling</a:t>
            </a:r>
          </a:p>
          <a:p>
            <a:pPr algn="just" marL="617920" indent="-308960" lvl="1">
              <a:lnSpc>
                <a:spcPts val="4006"/>
              </a:lnSpc>
              <a:buAutoNum type="arabicPeriod" startAt="1"/>
            </a:pPr>
            <a:r>
              <a:rPr lang="en-US" sz="2862">
                <a:solidFill>
                  <a:srgbClr val="FFFFFF"/>
                </a:solidFill>
                <a:latin typeface="Hind Jalandhar"/>
                <a:ea typeface="Hind Jalandhar"/>
                <a:cs typeface="Hind Jalandhar"/>
                <a:sym typeface="Hind Jalandhar"/>
              </a:rPr>
              <a:t>Multi-Stage Sampling</a:t>
            </a:r>
          </a:p>
          <a:p>
            <a:pPr algn="just" marL="617920" indent="-308960" lvl="1">
              <a:lnSpc>
                <a:spcPts val="4006"/>
              </a:lnSpc>
              <a:buAutoNum type="arabicPeriod" startAt="1"/>
            </a:pPr>
            <a:r>
              <a:rPr lang="en-US" sz="2862">
                <a:solidFill>
                  <a:srgbClr val="FFFFFF"/>
                </a:solidFill>
                <a:latin typeface="Hind Jalandhar"/>
                <a:ea typeface="Hind Jalandhar"/>
                <a:cs typeface="Hind Jalandhar"/>
                <a:sym typeface="Hind Jalandhar"/>
              </a:rPr>
              <a:t>Convenience Sampling</a:t>
            </a:r>
          </a:p>
          <a:p>
            <a:pPr algn="just" marL="617920" indent="-308960" lvl="1">
              <a:lnSpc>
                <a:spcPts val="4006"/>
              </a:lnSpc>
              <a:buAutoNum type="arabicPeriod" startAt="1"/>
            </a:pPr>
            <a:r>
              <a:rPr lang="en-US" sz="2862">
                <a:solidFill>
                  <a:srgbClr val="FFFFFF"/>
                </a:solidFill>
                <a:latin typeface="Hind Jalandhar"/>
                <a:ea typeface="Hind Jalandhar"/>
                <a:cs typeface="Hind Jalandhar"/>
                <a:sym typeface="Hind Jalandhar"/>
              </a:rPr>
              <a:t>Purposive Sampling</a:t>
            </a:r>
          </a:p>
          <a:p>
            <a:pPr algn="just" marL="617920" indent="-308960" lvl="1">
              <a:lnSpc>
                <a:spcPts val="4006"/>
              </a:lnSpc>
              <a:buAutoNum type="arabicPeriod" startAt="1"/>
            </a:pPr>
            <a:r>
              <a:rPr lang="en-US" sz="2862">
                <a:solidFill>
                  <a:srgbClr val="FFFFFF"/>
                </a:solidFill>
                <a:latin typeface="Hind Jalandhar"/>
                <a:ea typeface="Hind Jalandhar"/>
                <a:cs typeface="Hind Jalandhar"/>
                <a:sym typeface="Hind Jalandhar"/>
              </a:rPr>
              <a:t>Snowball Sampling</a:t>
            </a:r>
          </a:p>
          <a:p>
            <a:pPr algn="just" marL="617920" indent="-308960" lvl="1">
              <a:lnSpc>
                <a:spcPts val="4006"/>
              </a:lnSpc>
              <a:buAutoNum type="arabicPeriod" startAt="1"/>
            </a:pPr>
            <a:r>
              <a:rPr lang="en-US" sz="2862">
                <a:solidFill>
                  <a:srgbClr val="FFFFFF"/>
                </a:solidFill>
                <a:latin typeface="Hind Jalandhar"/>
                <a:ea typeface="Hind Jalandhar"/>
                <a:cs typeface="Hind Jalandhar"/>
                <a:sym typeface="Hind Jalandhar"/>
              </a:rPr>
              <a:t>Quota Sampling</a:t>
            </a:r>
          </a:p>
          <a:p>
            <a:pPr algn="just" marL="617920" indent="-308960" lvl="1">
              <a:lnSpc>
                <a:spcPts val="4006"/>
              </a:lnSpc>
              <a:buAutoNum type="arabicPeriod" startAt="1"/>
            </a:pPr>
            <a:r>
              <a:rPr lang="en-US" sz="2862">
                <a:solidFill>
                  <a:srgbClr val="FFFFFF"/>
                </a:solidFill>
                <a:latin typeface="Hind Jalandhar"/>
                <a:ea typeface="Hind Jalandhar"/>
                <a:cs typeface="Hind Jalandhar"/>
                <a:sym typeface="Hind Jalandhar"/>
              </a:rPr>
              <a:t>Judgemental Sampling</a:t>
            </a:r>
          </a:p>
          <a:p>
            <a:pPr algn="just" marL="617920" indent="-308960" lvl="1">
              <a:lnSpc>
                <a:spcPts val="4006"/>
              </a:lnSpc>
              <a:spcBef>
                <a:spcPct val="0"/>
              </a:spcBef>
              <a:buAutoNum type="arabicPeriod" startAt="1"/>
            </a:pPr>
            <a:r>
              <a:rPr lang="en-US" sz="2862">
                <a:solidFill>
                  <a:srgbClr val="FFFFFF"/>
                </a:solidFill>
                <a:latin typeface="Hind Jalandhar"/>
                <a:ea typeface="Hind Jalandhar"/>
                <a:cs typeface="Hind Jalandhar"/>
                <a:sym typeface="Hind Jalandhar"/>
              </a:rPr>
              <a:t>Volunteer Sampling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111" r="0" b="-9111"/>
            </a:stretch>
          </a:blipFill>
        </p:spPr>
      </p:sp>
      <p:grpSp>
        <p:nvGrpSpPr>
          <p:cNvPr name="Group 3" id="3"/>
          <p:cNvGrpSpPr/>
          <p:nvPr/>
        </p:nvGrpSpPr>
        <p:grpSpPr>
          <a:xfrm rot="0">
            <a:off x="685003" y="776779"/>
            <a:ext cx="16917995" cy="8733442"/>
            <a:chOff x="0" y="0"/>
            <a:chExt cx="4455768" cy="2300166"/>
          </a:xfrm>
        </p:grpSpPr>
        <p:sp>
          <p:nvSpPr>
            <p:cNvPr name="Freeform 4" id="4"/>
            <p:cNvSpPr/>
            <p:nvPr/>
          </p:nvSpPr>
          <p:spPr>
            <a:xfrm flipH="false" flipV="false" rot="0">
              <a:off x="0" y="0"/>
              <a:ext cx="4455768" cy="2300166"/>
            </a:xfrm>
            <a:custGeom>
              <a:avLst/>
              <a:gdLst/>
              <a:ahLst/>
              <a:cxnLst/>
              <a:rect r="r" b="b" t="t" l="l"/>
              <a:pathLst>
                <a:path h="2300166" w="4455768">
                  <a:moveTo>
                    <a:pt x="0" y="0"/>
                  </a:moveTo>
                  <a:lnTo>
                    <a:pt x="4455768" y="0"/>
                  </a:lnTo>
                  <a:lnTo>
                    <a:pt x="4455768" y="2300166"/>
                  </a:lnTo>
                  <a:lnTo>
                    <a:pt x="0" y="2300166"/>
                  </a:lnTo>
                  <a:close/>
                </a:path>
              </a:pathLst>
            </a:custGeom>
            <a:solidFill>
              <a:srgbClr val="000000">
                <a:alpha val="0"/>
              </a:srgbClr>
            </a:solidFill>
            <a:ln w="95250" cap="sq">
              <a:solidFill>
                <a:srgbClr val="B8A141"/>
              </a:solidFill>
              <a:prstDash val="solid"/>
              <a:miter/>
            </a:ln>
          </p:spPr>
        </p:sp>
        <p:sp>
          <p:nvSpPr>
            <p:cNvPr name="TextBox 5" id="5"/>
            <p:cNvSpPr txBox="true"/>
            <p:nvPr/>
          </p:nvSpPr>
          <p:spPr>
            <a:xfrm>
              <a:off x="0" y="-38100"/>
              <a:ext cx="4455768" cy="233826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5400000">
            <a:off x="2820264" y="1149730"/>
            <a:ext cx="624449" cy="1770344"/>
          </a:xfrm>
          <a:custGeom>
            <a:avLst/>
            <a:gdLst/>
            <a:ahLst/>
            <a:cxnLst/>
            <a:rect r="r" b="b" t="t" l="l"/>
            <a:pathLst>
              <a:path h="1770344" w="624449">
                <a:moveTo>
                  <a:pt x="624449" y="1770344"/>
                </a:moveTo>
                <a:lnTo>
                  <a:pt x="0" y="1770344"/>
                </a:lnTo>
                <a:lnTo>
                  <a:pt x="0" y="0"/>
                </a:lnTo>
                <a:lnTo>
                  <a:pt x="624449" y="0"/>
                </a:lnTo>
                <a:lnTo>
                  <a:pt x="624449" y="177034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false" rot="-10800000">
            <a:off x="-15395" y="0"/>
            <a:ext cx="2549171" cy="5270842"/>
          </a:xfrm>
          <a:custGeom>
            <a:avLst/>
            <a:gdLst/>
            <a:ahLst/>
            <a:cxnLst/>
            <a:rect r="r" b="b" t="t" l="l"/>
            <a:pathLst>
              <a:path h="5270842" w="2549171">
                <a:moveTo>
                  <a:pt x="2549171" y="0"/>
                </a:moveTo>
                <a:lnTo>
                  <a:pt x="0" y="0"/>
                </a:lnTo>
                <a:lnTo>
                  <a:pt x="0" y="5270842"/>
                </a:lnTo>
                <a:lnTo>
                  <a:pt x="2549171" y="5270842"/>
                </a:lnTo>
                <a:lnTo>
                  <a:pt x="254917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10800000">
            <a:off x="15757879" y="0"/>
            <a:ext cx="2549171" cy="5270842"/>
          </a:xfrm>
          <a:custGeom>
            <a:avLst/>
            <a:gdLst/>
            <a:ahLst/>
            <a:cxnLst/>
            <a:rect r="r" b="b" t="t" l="l"/>
            <a:pathLst>
              <a:path h="5270842" w="2549171">
                <a:moveTo>
                  <a:pt x="0" y="0"/>
                </a:moveTo>
                <a:lnTo>
                  <a:pt x="2549171" y="0"/>
                </a:lnTo>
                <a:lnTo>
                  <a:pt x="2549171" y="5270842"/>
                </a:lnTo>
                <a:lnTo>
                  <a:pt x="0" y="52708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818802">
            <a:off x="-983065" y="2892003"/>
            <a:ext cx="3655226" cy="7557798"/>
          </a:xfrm>
          <a:custGeom>
            <a:avLst/>
            <a:gdLst/>
            <a:ahLst/>
            <a:cxnLst/>
            <a:rect r="r" b="b" t="t" l="l"/>
            <a:pathLst>
              <a:path h="7557798" w="3655226">
                <a:moveTo>
                  <a:pt x="0" y="0"/>
                </a:moveTo>
                <a:lnTo>
                  <a:pt x="3655226" y="0"/>
                </a:lnTo>
                <a:lnTo>
                  <a:pt x="3655226" y="7557798"/>
                </a:lnTo>
                <a:lnTo>
                  <a:pt x="0" y="75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true" flipV="false" rot="-696796">
            <a:off x="15483649" y="2925969"/>
            <a:ext cx="3655226" cy="7557798"/>
          </a:xfrm>
          <a:custGeom>
            <a:avLst/>
            <a:gdLst/>
            <a:ahLst/>
            <a:cxnLst/>
            <a:rect r="r" b="b" t="t" l="l"/>
            <a:pathLst>
              <a:path h="7557798" w="3655226">
                <a:moveTo>
                  <a:pt x="3655226" y="0"/>
                </a:moveTo>
                <a:lnTo>
                  <a:pt x="0" y="0"/>
                </a:lnTo>
                <a:lnTo>
                  <a:pt x="0" y="7557799"/>
                </a:lnTo>
                <a:lnTo>
                  <a:pt x="3655226" y="7557799"/>
                </a:lnTo>
                <a:lnTo>
                  <a:pt x="3655226"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1" id="11"/>
          <p:cNvGrpSpPr/>
          <p:nvPr/>
        </p:nvGrpSpPr>
        <p:grpSpPr>
          <a:xfrm rot="0">
            <a:off x="2247316" y="3150626"/>
            <a:ext cx="385291" cy="402945"/>
            <a:chOff x="0" y="0"/>
            <a:chExt cx="101476" cy="106125"/>
          </a:xfrm>
        </p:grpSpPr>
        <p:sp>
          <p:nvSpPr>
            <p:cNvPr name="Freeform 12" id="12"/>
            <p:cNvSpPr/>
            <p:nvPr/>
          </p:nvSpPr>
          <p:spPr>
            <a:xfrm flipH="false" flipV="false" rot="0">
              <a:off x="0" y="0"/>
              <a:ext cx="101476" cy="106125"/>
            </a:xfrm>
            <a:custGeom>
              <a:avLst/>
              <a:gdLst/>
              <a:ahLst/>
              <a:cxnLst/>
              <a:rect r="r" b="b" t="t" l="l"/>
              <a:pathLst>
                <a:path h="106125" w="101476">
                  <a:moveTo>
                    <a:pt x="0" y="0"/>
                  </a:moveTo>
                  <a:lnTo>
                    <a:pt x="101476" y="0"/>
                  </a:lnTo>
                  <a:lnTo>
                    <a:pt x="101476" y="106125"/>
                  </a:lnTo>
                  <a:lnTo>
                    <a:pt x="0" y="106125"/>
                  </a:lnTo>
                  <a:close/>
                </a:path>
              </a:pathLst>
            </a:custGeom>
            <a:solidFill>
              <a:srgbClr val="D1B852"/>
            </a:solidFill>
          </p:spPr>
        </p:sp>
        <p:sp>
          <p:nvSpPr>
            <p:cNvPr name="TextBox 13" id="13"/>
            <p:cNvSpPr txBox="true"/>
            <p:nvPr/>
          </p:nvSpPr>
          <p:spPr>
            <a:xfrm>
              <a:off x="0" y="-38100"/>
              <a:ext cx="101476" cy="144225"/>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2353543" y="3258456"/>
            <a:ext cx="3650604" cy="3999666"/>
          </a:xfrm>
          <a:custGeom>
            <a:avLst/>
            <a:gdLst/>
            <a:ahLst/>
            <a:cxnLst/>
            <a:rect r="r" b="b" t="t" l="l"/>
            <a:pathLst>
              <a:path h="3999666" w="3650604">
                <a:moveTo>
                  <a:pt x="0" y="0"/>
                </a:moveTo>
                <a:lnTo>
                  <a:pt x="3650605" y="0"/>
                </a:lnTo>
                <a:lnTo>
                  <a:pt x="3650605" y="3999666"/>
                </a:lnTo>
                <a:lnTo>
                  <a:pt x="0" y="399966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5" id="15"/>
          <p:cNvSpPr txBox="true"/>
          <p:nvPr/>
        </p:nvSpPr>
        <p:spPr>
          <a:xfrm rot="0">
            <a:off x="4304120" y="1655071"/>
            <a:ext cx="11614558" cy="769188"/>
          </a:xfrm>
          <a:prstGeom prst="rect">
            <a:avLst/>
          </a:prstGeom>
        </p:spPr>
        <p:txBody>
          <a:bodyPr anchor="t" rtlCol="false" tIns="0" lIns="0" bIns="0" rIns="0">
            <a:spAutoFit/>
          </a:bodyPr>
          <a:lstStyle/>
          <a:p>
            <a:pPr algn="l">
              <a:lnSpc>
                <a:spcPts val="5991"/>
              </a:lnSpc>
            </a:pPr>
            <a:r>
              <a:rPr lang="en-US" sz="5164" b="true">
                <a:solidFill>
                  <a:srgbClr val="FFFFFF"/>
                </a:solidFill>
                <a:latin typeface="Maven Pro Heavy"/>
                <a:ea typeface="Maven Pro Heavy"/>
                <a:cs typeface="Maven Pro Heavy"/>
                <a:sym typeface="Maven Pro Heavy"/>
              </a:rPr>
              <a:t>Simple Random Sampling</a:t>
            </a:r>
          </a:p>
        </p:txBody>
      </p:sp>
      <p:sp>
        <p:nvSpPr>
          <p:cNvPr name="TextBox 16" id="16"/>
          <p:cNvSpPr txBox="true"/>
          <p:nvPr/>
        </p:nvSpPr>
        <p:spPr>
          <a:xfrm rot="0">
            <a:off x="2948588" y="3083951"/>
            <a:ext cx="7995963" cy="4428819"/>
          </a:xfrm>
          <a:prstGeom prst="rect">
            <a:avLst/>
          </a:prstGeom>
        </p:spPr>
        <p:txBody>
          <a:bodyPr anchor="t" rtlCol="false" tIns="0" lIns="0" bIns="0" rIns="0">
            <a:spAutoFit/>
          </a:bodyPr>
          <a:lstStyle/>
          <a:p>
            <a:pPr algn="just">
              <a:lnSpc>
                <a:spcPts val="4426"/>
              </a:lnSpc>
            </a:pPr>
            <a:r>
              <a:rPr lang="en-US" sz="3162">
                <a:solidFill>
                  <a:srgbClr val="FFFFFF"/>
                </a:solidFill>
                <a:latin typeface="Hind Jalandhar"/>
                <a:ea typeface="Hind Jalandhar"/>
                <a:cs typeface="Hind Jalandhar"/>
                <a:sym typeface="Hind Jalandhar"/>
              </a:rPr>
              <a:t>Metode ini memberikan setiap anggota dalam populasi kesempatan yang sama untuk menjadi sampel, biasanya melalui undian atau angka acak. Teknik ini mengurangi bias dan memberikan representasi yang lebih adil. Contoh penerapan: memilih siswa secara acak dari satu kelas.</a:t>
            </a:r>
          </a:p>
          <a:p>
            <a:pPr algn="just">
              <a:lnSpc>
                <a:spcPts val="4006"/>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111" r="0" b="-9111"/>
            </a:stretch>
          </a:blipFill>
        </p:spPr>
      </p:sp>
      <p:sp>
        <p:nvSpPr>
          <p:cNvPr name="Freeform 3" id="3"/>
          <p:cNvSpPr/>
          <p:nvPr/>
        </p:nvSpPr>
        <p:spPr>
          <a:xfrm flipH="true" flipV="true" rot="-5400000">
            <a:off x="2820264" y="1149730"/>
            <a:ext cx="624449" cy="1770344"/>
          </a:xfrm>
          <a:custGeom>
            <a:avLst/>
            <a:gdLst/>
            <a:ahLst/>
            <a:cxnLst/>
            <a:rect r="r" b="b" t="t" l="l"/>
            <a:pathLst>
              <a:path h="1770344" w="624449">
                <a:moveTo>
                  <a:pt x="624449" y="1770344"/>
                </a:moveTo>
                <a:lnTo>
                  <a:pt x="0" y="1770344"/>
                </a:lnTo>
                <a:lnTo>
                  <a:pt x="0" y="0"/>
                </a:lnTo>
                <a:lnTo>
                  <a:pt x="624449" y="0"/>
                </a:lnTo>
                <a:lnTo>
                  <a:pt x="624449" y="177034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10800000">
            <a:off x="-15395" y="0"/>
            <a:ext cx="2549171" cy="5270842"/>
          </a:xfrm>
          <a:custGeom>
            <a:avLst/>
            <a:gdLst/>
            <a:ahLst/>
            <a:cxnLst/>
            <a:rect r="r" b="b" t="t" l="l"/>
            <a:pathLst>
              <a:path h="5270842" w="2549171">
                <a:moveTo>
                  <a:pt x="2549171" y="0"/>
                </a:moveTo>
                <a:lnTo>
                  <a:pt x="0" y="0"/>
                </a:lnTo>
                <a:lnTo>
                  <a:pt x="0" y="5270842"/>
                </a:lnTo>
                <a:lnTo>
                  <a:pt x="2549171" y="5270842"/>
                </a:lnTo>
                <a:lnTo>
                  <a:pt x="254917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0800000">
            <a:off x="15757879" y="0"/>
            <a:ext cx="2549171" cy="5270842"/>
          </a:xfrm>
          <a:custGeom>
            <a:avLst/>
            <a:gdLst/>
            <a:ahLst/>
            <a:cxnLst/>
            <a:rect r="r" b="b" t="t" l="l"/>
            <a:pathLst>
              <a:path h="5270842" w="2549171">
                <a:moveTo>
                  <a:pt x="0" y="0"/>
                </a:moveTo>
                <a:lnTo>
                  <a:pt x="2549171" y="0"/>
                </a:lnTo>
                <a:lnTo>
                  <a:pt x="2549171" y="5270842"/>
                </a:lnTo>
                <a:lnTo>
                  <a:pt x="0" y="52708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818802">
            <a:off x="-983065" y="2892003"/>
            <a:ext cx="3655226" cy="7557798"/>
          </a:xfrm>
          <a:custGeom>
            <a:avLst/>
            <a:gdLst/>
            <a:ahLst/>
            <a:cxnLst/>
            <a:rect r="r" b="b" t="t" l="l"/>
            <a:pathLst>
              <a:path h="7557798" w="3655226">
                <a:moveTo>
                  <a:pt x="0" y="0"/>
                </a:moveTo>
                <a:lnTo>
                  <a:pt x="3655226" y="0"/>
                </a:lnTo>
                <a:lnTo>
                  <a:pt x="3655226" y="7557798"/>
                </a:lnTo>
                <a:lnTo>
                  <a:pt x="0" y="75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true" flipV="false" rot="-696796">
            <a:off x="15483649" y="2925969"/>
            <a:ext cx="3655226" cy="7557798"/>
          </a:xfrm>
          <a:custGeom>
            <a:avLst/>
            <a:gdLst/>
            <a:ahLst/>
            <a:cxnLst/>
            <a:rect r="r" b="b" t="t" l="l"/>
            <a:pathLst>
              <a:path h="7557798" w="3655226">
                <a:moveTo>
                  <a:pt x="3655226" y="0"/>
                </a:moveTo>
                <a:lnTo>
                  <a:pt x="0" y="0"/>
                </a:lnTo>
                <a:lnTo>
                  <a:pt x="0" y="7557799"/>
                </a:lnTo>
                <a:lnTo>
                  <a:pt x="3655226" y="7557799"/>
                </a:lnTo>
                <a:lnTo>
                  <a:pt x="3655226"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2247316" y="3150626"/>
            <a:ext cx="385291" cy="402945"/>
            <a:chOff x="0" y="0"/>
            <a:chExt cx="101476" cy="106125"/>
          </a:xfrm>
        </p:grpSpPr>
        <p:sp>
          <p:nvSpPr>
            <p:cNvPr name="Freeform 9" id="9"/>
            <p:cNvSpPr/>
            <p:nvPr/>
          </p:nvSpPr>
          <p:spPr>
            <a:xfrm flipH="false" flipV="false" rot="0">
              <a:off x="0" y="0"/>
              <a:ext cx="101476" cy="106125"/>
            </a:xfrm>
            <a:custGeom>
              <a:avLst/>
              <a:gdLst/>
              <a:ahLst/>
              <a:cxnLst/>
              <a:rect r="r" b="b" t="t" l="l"/>
              <a:pathLst>
                <a:path h="106125" w="101476">
                  <a:moveTo>
                    <a:pt x="0" y="0"/>
                  </a:moveTo>
                  <a:lnTo>
                    <a:pt x="101476" y="0"/>
                  </a:lnTo>
                  <a:lnTo>
                    <a:pt x="101476" y="106125"/>
                  </a:lnTo>
                  <a:lnTo>
                    <a:pt x="0" y="106125"/>
                  </a:lnTo>
                  <a:close/>
                </a:path>
              </a:pathLst>
            </a:custGeom>
            <a:solidFill>
              <a:srgbClr val="D1B852"/>
            </a:solidFill>
          </p:spPr>
        </p:sp>
        <p:sp>
          <p:nvSpPr>
            <p:cNvPr name="TextBox 10" id="10"/>
            <p:cNvSpPr txBox="true"/>
            <p:nvPr/>
          </p:nvSpPr>
          <p:spPr>
            <a:xfrm>
              <a:off x="0" y="-38100"/>
              <a:ext cx="101476" cy="14422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4304120" y="1655071"/>
            <a:ext cx="11614558" cy="769188"/>
          </a:xfrm>
          <a:prstGeom prst="rect">
            <a:avLst/>
          </a:prstGeom>
        </p:spPr>
        <p:txBody>
          <a:bodyPr anchor="t" rtlCol="false" tIns="0" lIns="0" bIns="0" rIns="0">
            <a:spAutoFit/>
          </a:bodyPr>
          <a:lstStyle/>
          <a:p>
            <a:pPr algn="l">
              <a:lnSpc>
                <a:spcPts val="5991"/>
              </a:lnSpc>
            </a:pPr>
            <a:r>
              <a:rPr lang="en-US" sz="5164" b="true">
                <a:solidFill>
                  <a:srgbClr val="FFFFFF"/>
                </a:solidFill>
                <a:latin typeface="Maven Pro Heavy"/>
                <a:ea typeface="Maven Pro Heavy"/>
                <a:cs typeface="Maven Pro Heavy"/>
                <a:sym typeface="Maven Pro Heavy"/>
              </a:rPr>
              <a:t>Systematic Sampling</a:t>
            </a:r>
          </a:p>
        </p:txBody>
      </p:sp>
      <p:sp>
        <p:nvSpPr>
          <p:cNvPr name="TextBox 12" id="12"/>
          <p:cNvSpPr txBox="true"/>
          <p:nvPr/>
        </p:nvSpPr>
        <p:spPr>
          <a:xfrm rot="0">
            <a:off x="2882548" y="3093476"/>
            <a:ext cx="12625391" cy="2151074"/>
          </a:xfrm>
          <a:prstGeom prst="rect">
            <a:avLst/>
          </a:prstGeom>
        </p:spPr>
        <p:txBody>
          <a:bodyPr anchor="t" rtlCol="false" tIns="0" lIns="0" bIns="0" rIns="0">
            <a:spAutoFit/>
          </a:bodyPr>
          <a:lstStyle/>
          <a:p>
            <a:pPr algn="just">
              <a:lnSpc>
                <a:spcPts val="4286"/>
              </a:lnSpc>
              <a:spcBef>
                <a:spcPct val="0"/>
              </a:spcBef>
            </a:pPr>
            <a:r>
              <a:rPr lang="en-US" sz="3062">
                <a:solidFill>
                  <a:srgbClr val="FFFFFF"/>
                </a:solidFill>
                <a:latin typeface="Hind Jalandhar"/>
                <a:ea typeface="Hind Jalandhar"/>
                <a:cs typeface="Hind Jalandhar"/>
                <a:sym typeface="Hind Jalandhar"/>
              </a:rPr>
              <a:t>Pengambilan sampel berdasarkan urutan atau interval tertentu, misalnya setiap anggota kelima dari daftar populasi. Teknik ini lebih cepat dan tetap bisa mewakili populasi, asalkan tidak ada pola yang mempengaruhi hasilnya. Contoh penerapan: memilih pelanggan ke-10 di antrean untuk survei.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111" r="0" b="-9111"/>
            </a:stretch>
          </a:blipFill>
        </p:spPr>
      </p:sp>
      <p:sp>
        <p:nvSpPr>
          <p:cNvPr name="Freeform 3" id="3"/>
          <p:cNvSpPr/>
          <p:nvPr/>
        </p:nvSpPr>
        <p:spPr>
          <a:xfrm flipH="true" flipV="true" rot="-5400000">
            <a:off x="2820264" y="1149730"/>
            <a:ext cx="624449" cy="1770344"/>
          </a:xfrm>
          <a:custGeom>
            <a:avLst/>
            <a:gdLst/>
            <a:ahLst/>
            <a:cxnLst/>
            <a:rect r="r" b="b" t="t" l="l"/>
            <a:pathLst>
              <a:path h="1770344" w="624449">
                <a:moveTo>
                  <a:pt x="624449" y="1770344"/>
                </a:moveTo>
                <a:lnTo>
                  <a:pt x="0" y="1770344"/>
                </a:lnTo>
                <a:lnTo>
                  <a:pt x="0" y="0"/>
                </a:lnTo>
                <a:lnTo>
                  <a:pt x="624449" y="0"/>
                </a:lnTo>
                <a:lnTo>
                  <a:pt x="624449" y="177034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10800000">
            <a:off x="-15395" y="0"/>
            <a:ext cx="2549171" cy="5270842"/>
          </a:xfrm>
          <a:custGeom>
            <a:avLst/>
            <a:gdLst/>
            <a:ahLst/>
            <a:cxnLst/>
            <a:rect r="r" b="b" t="t" l="l"/>
            <a:pathLst>
              <a:path h="5270842" w="2549171">
                <a:moveTo>
                  <a:pt x="2549171" y="0"/>
                </a:moveTo>
                <a:lnTo>
                  <a:pt x="0" y="0"/>
                </a:lnTo>
                <a:lnTo>
                  <a:pt x="0" y="5270842"/>
                </a:lnTo>
                <a:lnTo>
                  <a:pt x="2549171" y="5270842"/>
                </a:lnTo>
                <a:lnTo>
                  <a:pt x="254917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0800000">
            <a:off x="15757879" y="0"/>
            <a:ext cx="2549171" cy="5270842"/>
          </a:xfrm>
          <a:custGeom>
            <a:avLst/>
            <a:gdLst/>
            <a:ahLst/>
            <a:cxnLst/>
            <a:rect r="r" b="b" t="t" l="l"/>
            <a:pathLst>
              <a:path h="5270842" w="2549171">
                <a:moveTo>
                  <a:pt x="0" y="0"/>
                </a:moveTo>
                <a:lnTo>
                  <a:pt x="2549171" y="0"/>
                </a:lnTo>
                <a:lnTo>
                  <a:pt x="2549171" y="5270842"/>
                </a:lnTo>
                <a:lnTo>
                  <a:pt x="0" y="52708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818802">
            <a:off x="-983065" y="2892003"/>
            <a:ext cx="3655226" cy="7557798"/>
          </a:xfrm>
          <a:custGeom>
            <a:avLst/>
            <a:gdLst/>
            <a:ahLst/>
            <a:cxnLst/>
            <a:rect r="r" b="b" t="t" l="l"/>
            <a:pathLst>
              <a:path h="7557798" w="3655226">
                <a:moveTo>
                  <a:pt x="0" y="0"/>
                </a:moveTo>
                <a:lnTo>
                  <a:pt x="3655226" y="0"/>
                </a:lnTo>
                <a:lnTo>
                  <a:pt x="3655226" y="7557798"/>
                </a:lnTo>
                <a:lnTo>
                  <a:pt x="0" y="75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true" flipV="false" rot="-696796">
            <a:off x="15483649" y="2925969"/>
            <a:ext cx="3655226" cy="7557798"/>
          </a:xfrm>
          <a:custGeom>
            <a:avLst/>
            <a:gdLst/>
            <a:ahLst/>
            <a:cxnLst/>
            <a:rect r="r" b="b" t="t" l="l"/>
            <a:pathLst>
              <a:path h="7557798" w="3655226">
                <a:moveTo>
                  <a:pt x="3655226" y="0"/>
                </a:moveTo>
                <a:lnTo>
                  <a:pt x="0" y="0"/>
                </a:lnTo>
                <a:lnTo>
                  <a:pt x="0" y="7557799"/>
                </a:lnTo>
                <a:lnTo>
                  <a:pt x="3655226" y="7557799"/>
                </a:lnTo>
                <a:lnTo>
                  <a:pt x="3655226"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2247316" y="3150626"/>
            <a:ext cx="385291" cy="402945"/>
            <a:chOff x="0" y="0"/>
            <a:chExt cx="101476" cy="106125"/>
          </a:xfrm>
        </p:grpSpPr>
        <p:sp>
          <p:nvSpPr>
            <p:cNvPr name="Freeform 9" id="9"/>
            <p:cNvSpPr/>
            <p:nvPr/>
          </p:nvSpPr>
          <p:spPr>
            <a:xfrm flipH="false" flipV="false" rot="0">
              <a:off x="0" y="0"/>
              <a:ext cx="101476" cy="106125"/>
            </a:xfrm>
            <a:custGeom>
              <a:avLst/>
              <a:gdLst/>
              <a:ahLst/>
              <a:cxnLst/>
              <a:rect r="r" b="b" t="t" l="l"/>
              <a:pathLst>
                <a:path h="106125" w="101476">
                  <a:moveTo>
                    <a:pt x="0" y="0"/>
                  </a:moveTo>
                  <a:lnTo>
                    <a:pt x="101476" y="0"/>
                  </a:lnTo>
                  <a:lnTo>
                    <a:pt x="101476" y="106125"/>
                  </a:lnTo>
                  <a:lnTo>
                    <a:pt x="0" y="106125"/>
                  </a:lnTo>
                  <a:close/>
                </a:path>
              </a:pathLst>
            </a:custGeom>
            <a:solidFill>
              <a:srgbClr val="D1B852"/>
            </a:solidFill>
          </p:spPr>
        </p:sp>
        <p:sp>
          <p:nvSpPr>
            <p:cNvPr name="TextBox 10" id="10"/>
            <p:cNvSpPr txBox="true"/>
            <p:nvPr/>
          </p:nvSpPr>
          <p:spPr>
            <a:xfrm>
              <a:off x="0" y="-38100"/>
              <a:ext cx="101476" cy="14422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4304120" y="1655071"/>
            <a:ext cx="11614558" cy="769188"/>
          </a:xfrm>
          <a:prstGeom prst="rect">
            <a:avLst/>
          </a:prstGeom>
        </p:spPr>
        <p:txBody>
          <a:bodyPr anchor="t" rtlCol="false" tIns="0" lIns="0" bIns="0" rIns="0">
            <a:spAutoFit/>
          </a:bodyPr>
          <a:lstStyle/>
          <a:p>
            <a:pPr algn="l">
              <a:lnSpc>
                <a:spcPts val="5991"/>
              </a:lnSpc>
            </a:pPr>
            <a:r>
              <a:rPr lang="en-US" sz="5164" b="true">
                <a:solidFill>
                  <a:srgbClr val="FFFFFF"/>
                </a:solidFill>
                <a:latin typeface="Maven Pro Heavy"/>
                <a:ea typeface="Maven Pro Heavy"/>
                <a:cs typeface="Maven Pro Heavy"/>
                <a:sym typeface="Maven Pro Heavy"/>
              </a:rPr>
              <a:t>Stratified Sampling</a:t>
            </a:r>
          </a:p>
        </p:txBody>
      </p:sp>
      <p:sp>
        <p:nvSpPr>
          <p:cNvPr name="TextBox 12" id="12"/>
          <p:cNvSpPr txBox="true"/>
          <p:nvPr/>
        </p:nvSpPr>
        <p:spPr>
          <a:xfrm rot="0">
            <a:off x="2882548" y="3093476"/>
            <a:ext cx="12625391" cy="3236924"/>
          </a:xfrm>
          <a:prstGeom prst="rect">
            <a:avLst/>
          </a:prstGeom>
        </p:spPr>
        <p:txBody>
          <a:bodyPr anchor="t" rtlCol="false" tIns="0" lIns="0" bIns="0" rIns="0">
            <a:spAutoFit/>
          </a:bodyPr>
          <a:lstStyle/>
          <a:p>
            <a:pPr algn="just">
              <a:lnSpc>
                <a:spcPts val="4286"/>
              </a:lnSpc>
            </a:pPr>
            <a:r>
              <a:rPr lang="en-US" sz="3062">
                <a:solidFill>
                  <a:srgbClr val="FFFFFF"/>
                </a:solidFill>
                <a:latin typeface="Hind Jalandhar"/>
                <a:ea typeface="Hind Jalandhar"/>
                <a:cs typeface="Hind Jalandhar"/>
                <a:sym typeface="Hind Jalandhar"/>
              </a:rPr>
              <a:t>•Populasi dibagi menjadi kelompok-kelompok yang seragam (strata), dan sampel dipilih dari setiap strata. Hal ini memastikan setiap kelompok diwakili dalam sampel, berdasarkan karakteristik penting seperti usia atau jenis kelamin. Contoh penerapan: mengambil sampel pria dan wanita secara proporsional untuk survei produk.</a:t>
            </a:r>
          </a:p>
          <a:p>
            <a:pPr algn="just">
              <a:lnSpc>
                <a:spcPts val="4286"/>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111" r="0" b="-9111"/>
            </a:stretch>
          </a:blipFill>
        </p:spPr>
      </p:sp>
      <p:grpSp>
        <p:nvGrpSpPr>
          <p:cNvPr name="Group 3" id="3"/>
          <p:cNvGrpSpPr/>
          <p:nvPr/>
        </p:nvGrpSpPr>
        <p:grpSpPr>
          <a:xfrm rot="0">
            <a:off x="685003" y="776779"/>
            <a:ext cx="16917995" cy="8733442"/>
            <a:chOff x="0" y="0"/>
            <a:chExt cx="4455768" cy="2300166"/>
          </a:xfrm>
        </p:grpSpPr>
        <p:sp>
          <p:nvSpPr>
            <p:cNvPr name="Freeform 4" id="4"/>
            <p:cNvSpPr/>
            <p:nvPr/>
          </p:nvSpPr>
          <p:spPr>
            <a:xfrm flipH="false" flipV="false" rot="0">
              <a:off x="0" y="0"/>
              <a:ext cx="4455768" cy="2300166"/>
            </a:xfrm>
            <a:custGeom>
              <a:avLst/>
              <a:gdLst/>
              <a:ahLst/>
              <a:cxnLst/>
              <a:rect r="r" b="b" t="t" l="l"/>
              <a:pathLst>
                <a:path h="2300166" w="4455768">
                  <a:moveTo>
                    <a:pt x="0" y="0"/>
                  </a:moveTo>
                  <a:lnTo>
                    <a:pt x="4455768" y="0"/>
                  </a:lnTo>
                  <a:lnTo>
                    <a:pt x="4455768" y="2300166"/>
                  </a:lnTo>
                  <a:lnTo>
                    <a:pt x="0" y="2300166"/>
                  </a:lnTo>
                  <a:close/>
                </a:path>
              </a:pathLst>
            </a:custGeom>
            <a:solidFill>
              <a:srgbClr val="000000">
                <a:alpha val="0"/>
              </a:srgbClr>
            </a:solidFill>
            <a:ln w="95250" cap="sq">
              <a:solidFill>
                <a:srgbClr val="B8A141"/>
              </a:solidFill>
              <a:prstDash val="solid"/>
              <a:miter/>
            </a:ln>
          </p:spPr>
        </p:sp>
        <p:sp>
          <p:nvSpPr>
            <p:cNvPr name="TextBox 5" id="5"/>
            <p:cNvSpPr txBox="true"/>
            <p:nvPr/>
          </p:nvSpPr>
          <p:spPr>
            <a:xfrm>
              <a:off x="0" y="-38100"/>
              <a:ext cx="4455768" cy="233826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5400000">
            <a:off x="3106723" y="1149730"/>
            <a:ext cx="624449" cy="1770344"/>
          </a:xfrm>
          <a:custGeom>
            <a:avLst/>
            <a:gdLst/>
            <a:ahLst/>
            <a:cxnLst/>
            <a:rect r="r" b="b" t="t" l="l"/>
            <a:pathLst>
              <a:path h="1770344" w="624449">
                <a:moveTo>
                  <a:pt x="624449" y="1770344"/>
                </a:moveTo>
                <a:lnTo>
                  <a:pt x="0" y="1770344"/>
                </a:lnTo>
                <a:lnTo>
                  <a:pt x="0" y="0"/>
                </a:lnTo>
                <a:lnTo>
                  <a:pt x="624449" y="0"/>
                </a:lnTo>
                <a:lnTo>
                  <a:pt x="624449" y="177034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false" rot="-10800000">
            <a:off x="-15395" y="0"/>
            <a:ext cx="2549171" cy="5270842"/>
          </a:xfrm>
          <a:custGeom>
            <a:avLst/>
            <a:gdLst/>
            <a:ahLst/>
            <a:cxnLst/>
            <a:rect r="r" b="b" t="t" l="l"/>
            <a:pathLst>
              <a:path h="5270842" w="2549171">
                <a:moveTo>
                  <a:pt x="2549171" y="0"/>
                </a:moveTo>
                <a:lnTo>
                  <a:pt x="0" y="0"/>
                </a:lnTo>
                <a:lnTo>
                  <a:pt x="0" y="5270842"/>
                </a:lnTo>
                <a:lnTo>
                  <a:pt x="2549171" y="5270842"/>
                </a:lnTo>
                <a:lnTo>
                  <a:pt x="254917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10800000">
            <a:off x="15757879" y="0"/>
            <a:ext cx="2549171" cy="5270842"/>
          </a:xfrm>
          <a:custGeom>
            <a:avLst/>
            <a:gdLst/>
            <a:ahLst/>
            <a:cxnLst/>
            <a:rect r="r" b="b" t="t" l="l"/>
            <a:pathLst>
              <a:path h="5270842" w="2549171">
                <a:moveTo>
                  <a:pt x="0" y="0"/>
                </a:moveTo>
                <a:lnTo>
                  <a:pt x="2549171" y="0"/>
                </a:lnTo>
                <a:lnTo>
                  <a:pt x="2549171" y="5270842"/>
                </a:lnTo>
                <a:lnTo>
                  <a:pt x="0" y="52708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818802">
            <a:off x="-983065" y="2892003"/>
            <a:ext cx="3655226" cy="7557798"/>
          </a:xfrm>
          <a:custGeom>
            <a:avLst/>
            <a:gdLst/>
            <a:ahLst/>
            <a:cxnLst/>
            <a:rect r="r" b="b" t="t" l="l"/>
            <a:pathLst>
              <a:path h="7557798" w="3655226">
                <a:moveTo>
                  <a:pt x="0" y="0"/>
                </a:moveTo>
                <a:lnTo>
                  <a:pt x="3655226" y="0"/>
                </a:lnTo>
                <a:lnTo>
                  <a:pt x="3655226" y="7557798"/>
                </a:lnTo>
                <a:lnTo>
                  <a:pt x="0" y="75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true" flipV="false" rot="-696796">
            <a:off x="15483649" y="2925969"/>
            <a:ext cx="3655226" cy="7557798"/>
          </a:xfrm>
          <a:custGeom>
            <a:avLst/>
            <a:gdLst/>
            <a:ahLst/>
            <a:cxnLst/>
            <a:rect r="r" b="b" t="t" l="l"/>
            <a:pathLst>
              <a:path h="7557798" w="3655226">
                <a:moveTo>
                  <a:pt x="3655226" y="0"/>
                </a:moveTo>
                <a:lnTo>
                  <a:pt x="0" y="0"/>
                </a:lnTo>
                <a:lnTo>
                  <a:pt x="0" y="7557799"/>
                </a:lnTo>
                <a:lnTo>
                  <a:pt x="3655226" y="7557799"/>
                </a:lnTo>
                <a:lnTo>
                  <a:pt x="365522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2151498" y="3749315"/>
            <a:ext cx="3781646" cy="3781646"/>
          </a:xfrm>
          <a:custGeom>
            <a:avLst/>
            <a:gdLst/>
            <a:ahLst/>
            <a:cxnLst/>
            <a:rect r="r" b="b" t="t" l="l"/>
            <a:pathLst>
              <a:path h="3781646" w="3781646">
                <a:moveTo>
                  <a:pt x="0" y="0"/>
                </a:moveTo>
                <a:lnTo>
                  <a:pt x="3781646" y="0"/>
                </a:lnTo>
                <a:lnTo>
                  <a:pt x="3781646" y="3781646"/>
                </a:lnTo>
                <a:lnTo>
                  <a:pt x="0" y="37816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4713347" y="1655071"/>
            <a:ext cx="10530105" cy="769188"/>
          </a:xfrm>
          <a:prstGeom prst="rect">
            <a:avLst/>
          </a:prstGeom>
        </p:spPr>
        <p:txBody>
          <a:bodyPr anchor="t" rtlCol="false" tIns="0" lIns="0" bIns="0" rIns="0">
            <a:spAutoFit/>
          </a:bodyPr>
          <a:lstStyle/>
          <a:p>
            <a:pPr algn="l">
              <a:lnSpc>
                <a:spcPts val="5991"/>
              </a:lnSpc>
            </a:pPr>
            <a:r>
              <a:rPr lang="en-US" sz="5164" b="true">
                <a:solidFill>
                  <a:srgbClr val="FFFFFF"/>
                </a:solidFill>
                <a:latin typeface="Maven Pro Heavy"/>
                <a:ea typeface="Maven Pro Heavy"/>
                <a:cs typeface="Maven Pro Heavy"/>
                <a:sym typeface="Maven Pro Heavy"/>
              </a:rPr>
              <a:t>Cluster Sampling</a:t>
            </a:r>
          </a:p>
        </p:txBody>
      </p:sp>
      <p:sp>
        <p:nvSpPr>
          <p:cNvPr name="TextBox 13" id="13"/>
          <p:cNvSpPr txBox="true"/>
          <p:nvPr/>
        </p:nvSpPr>
        <p:spPr>
          <a:xfrm rot="0">
            <a:off x="2533776" y="2814018"/>
            <a:ext cx="9130275" cy="3744289"/>
          </a:xfrm>
          <a:prstGeom prst="rect">
            <a:avLst/>
          </a:prstGeom>
        </p:spPr>
        <p:txBody>
          <a:bodyPr anchor="t" rtlCol="false" tIns="0" lIns="0" bIns="0" rIns="0">
            <a:spAutoFit/>
          </a:bodyPr>
          <a:lstStyle/>
          <a:p>
            <a:pPr algn="just">
              <a:lnSpc>
                <a:spcPts val="4286"/>
              </a:lnSpc>
            </a:pPr>
            <a:r>
              <a:rPr lang="en-US" sz="3062">
                <a:solidFill>
                  <a:srgbClr val="FFFFFF"/>
                </a:solidFill>
                <a:latin typeface="Hind Jalandhar"/>
                <a:ea typeface="Hind Jalandhar"/>
                <a:cs typeface="Hind Jalandhar"/>
                <a:sym typeface="Hind Jalandhar"/>
              </a:rPr>
              <a:t>Populasi dibagi menjadi cluster kecil, dan beberapa cluster dipilih secara acak, di mana semua anggota cluster tersebut menjadi sampel. Teknik ini digunakan untuk populasi yang luas secara geografis. Contoh penerapan: memilih sekolah-sekolah secara acak di sebuah kota dan menyurvei semua siswa di dalamnya.</a:t>
            </a:r>
          </a:p>
          <a:p>
            <a:pPr algn="just">
              <a:lnSpc>
                <a:spcPts val="4006"/>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111" r="0" b="-9111"/>
            </a:stretch>
          </a:blipFill>
        </p:spPr>
      </p:sp>
      <p:grpSp>
        <p:nvGrpSpPr>
          <p:cNvPr name="Group 3" id="3"/>
          <p:cNvGrpSpPr/>
          <p:nvPr/>
        </p:nvGrpSpPr>
        <p:grpSpPr>
          <a:xfrm rot="0">
            <a:off x="685003" y="776779"/>
            <a:ext cx="16917995" cy="8733442"/>
            <a:chOff x="0" y="0"/>
            <a:chExt cx="4455768" cy="2300166"/>
          </a:xfrm>
        </p:grpSpPr>
        <p:sp>
          <p:nvSpPr>
            <p:cNvPr name="Freeform 4" id="4"/>
            <p:cNvSpPr/>
            <p:nvPr/>
          </p:nvSpPr>
          <p:spPr>
            <a:xfrm flipH="false" flipV="false" rot="0">
              <a:off x="0" y="0"/>
              <a:ext cx="4455768" cy="2300166"/>
            </a:xfrm>
            <a:custGeom>
              <a:avLst/>
              <a:gdLst/>
              <a:ahLst/>
              <a:cxnLst/>
              <a:rect r="r" b="b" t="t" l="l"/>
              <a:pathLst>
                <a:path h="2300166" w="4455768">
                  <a:moveTo>
                    <a:pt x="0" y="0"/>
                  </a:moveTo>
                  <a:lnTo>
                    <a:pt x="4455768" y="0"/>
                  </a:lnTo>
                  <a:lnTo>
                    <a:pt x="4455768" y="2300166"/>
                  </a:lnTo>
                  <a:lnTo>
                    <a:pt x="0" y="2300166"/>
                  </a:lnTo>
                  <a:close/>
                </a:path>
              </a:pathLst>
            </a:custGeom>
            <a:solidFill>
              <a:srgbClr val="000000">
                <a:alpha val="0"/>
              </a:srgbClr>
            </a:solidFill>
            <a:ln w="95250" cap="sq">
              <a:solidFill>
                <a:srgbClr val="B8A141"/>
              </a:solidFill>
              <a:prstDash val="solid"/>
              <a:miter/>
            </a:ln>
          </p:spPr>
        </p:sp>
        <p:sp>
          <p:nvSpPr>
            <p:cNvPr name="TextBox 5" id="5"/>
            <p:cNvSpPr txBox="true"/>
            <p:nvPr/>
          </p:nvSpPr>
          <p:spPr>
            <a:xfrm>
              <a:off x="0" y="-38100"/>
              <a:ext cx="4455768" cy="233826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5400000">
            <a:off x="2820264" y="1149730"/>
            <a:ext cx="624449" cy="1770344"/>
          </a:xfrm>
          <a:custGeom>
            <a:avLst/>
            <a:gdLst/>
            <a:ahLst/>
            <a:cxnLst/>
            <a:rect r="r" b="b" t="t" l="l"/>
            <a:pathLst>
              <a:path h="1770344" w="624449">
                <a:moveTo>
                  <a:pt x="624449" y="1770344"/>
                </a:moveTo>
                <a:lnTo>
                  <a:pt x="0" y="1770344"/>
                </a:lnTo>
                <a:lnTo>
                  <a:pt x="0" y="0"/>
                </a:lnTo>
                <a:lnTo>
                  <a:pt x="624449" y="0"/>
                </a:lnTo>
                <a:lnTo>
                  <a:pt x="624449" y="177034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false" rot="-10800000">
            <a:off x="-15395" y="0"/>
            <a:ext cx="2549171" cy="5270842"/>
          </a:xfrm>
          <a:custGeom>
            <a:avLst/>
            <a:gdLst/>
            <a:ahLst/>
            <a:cxnLst/>
            <a:rect r="r" b="b" t="t" l="l"/>
            <a:pathLst>
              <a:path h="5270842" w="2549171">
                <a:moveTo>
                  <a:pt x="2549171" y="0"/>
                </a:moveTo>
                <a:lnTo>
                  <a:pt x="0" y="0"/>
                </a:lnTo>
                <a:lnTo>
                  <a:pt x="0" y="5270842"/>
                </a:lnTo>
                <a:lnTo>
                  <a:pt x="2549171" y="5270842"/>
                </a:lnTo>
                <a:lnTo>
                  <a:pt x="254917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10800000">
            <a:off x="15757879" y="0"/>
            <a:ext cx="2549171" cy="5270842"/>
          </a:xfrm>
          <a:custGeom>
            <a:avLst/>
            <a:gdLst/>
            <a:ahLst/>
            <a:cxnLst/>
            <a:rect r="r" b="b" t="t" l="l"/>
            <a:pathLst>
              <a:path h="5270842" w="2549171">
                <a:moveTo>
                  <a:pt x="0" y="0"/>
                </a:moveTo>
                <a:lnTo>
                  <a:pt x="2549171" y="0"/>
                </a:lnTo>
                <a:lnTo>
                  <a:pt x="2549171" y="5270842"/>
                </a:lnTo>
                <a:lnTo>
                  <a:pt x="0" y="52708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818802">
            <a:off x="-983065" y="2892003"/>
            <a:ext cx="3655226" cy="7557798"/>
          </a:xfrm>
          <a:custGeom>
            <a:avLst/>
            <a:gdLst/>
            <a:ahLst/>
            <a:cxnLst/>
            <a:rect r="r" b="b" t="t" l="l"/>
            <a:pathLst>
              <a:path h="7557798" w="3655226">
                <a:moveTo>
                  <a:pt x="0" y="0"/>
                </a:moveTo>
                <a:lnTo>
                  <a:pt x="3655226" y="0"/>
                </a:lnTo>
                <a:lnTo>
                  <a:pt x="3655226" y="7557798"/>
                </a:lnTo>
                <a:lnTo>
                  <a:pt x="0" y="75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true" flipV="false" rot="-696796">
            <a:off x="15483649" y="2925969"/>
            <a:ext cx="3655226" cy="7557798"/>
          </a:xfrm>
          <a:custGeom>
            <a:avLst/>
            <a:gdLst/>
            <a:ahLst/>
            <a:cxnLst/>
            <a:rect r="r" b="b" t="t" l="l"/>
            <a:pathLst>
              <a:path h="7557798" w="3655226">
                <a:moveTo>
                  <a:pt x="3655226" y="0"/>
                </a:moveTo>
                <a:lnTo>
                  <a:pt x="0" y="0"/>
                </a:lnTo>
                <a:lnTo>
                  <a:pt x="0" y="7557799"/>
                </a:lnTo>
                <a:lnTo>
                  <a:pt x="3655226" y="7557799"/>
                </a:lnTo>
                <a:lnTo>
                  <a:pt x="3655226"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1" id="11"/>
          <p:cNvGrpSpPr/>
          <p:nvPr/>
        </p:nvGrpSpPr>
        <p:grpSpPr>
          <a:xfrm rot="0">
            <a:off x="2247316" y="3150626"/>
            <a:ext cx="385291" cy="402945"/>
            <a:chOff x="0" y="0"/>
            <a:chExt cx="101476" cy="106125"/>
          </a:xfrm>
        </p:grpSpPr>
        <p:sp>
          <p:nvSpPr>
            <p:cNvPr name="Freeform 12" id="12"/>
            <p:cNvSpPr/>
            <p:nvPr/>
          </p:nvSpPr>
          <p:spPr>
            <a:xfrm flipH="false" flipV="false" rot="0">
              <a:off x="0" y="0"/>
              <a:ext cx="101476" cy="106125"/>
            </a:xfrm>
            <a:custGeom>
              <a:avLst/>
              <a:gdLst/>
              <a:ahLst/>
              <a:cxnLst/>
              <a:rect r="r" b="b" t="t" l="l"/>
              <a:pathLst>
                <a:path h="106125" w="101476">
                  <a:moveTo>
                    <a:pt x="0" y="0"/>
                  </a:moveTo>
                  <a:lnTo>
                    <a:pt x="101476" y="0"/>
                  </a:lnTo>
                  <a:lnTo>
                    <a:pt x="101476" y="106125"/>
                  </a:lnTo>
                  <a:lnTo>
                    <a:pt x="0" y="106125"/>
                  </a:lnTo>
                  <a:close/>
                </a:path>
              </a:pathLst>
            </a:custGeom>
            <a:solidFill>
              <a:srgbClr val="D1B852"/>
            </a:solidFill>
          </p:spPr>
        </p:sp>
        <p:sp>
          <p:nvSpPr>
            <p:cNvPr name="TextBox 13" id="13"/>
            <p:cNvSpPr txBox="true"/>
            <p:nvPr/>
          </p:nvSpPr>
          <p:spPr>
            <a:xfrm>
              <a:off x="0" y="-38100"/>
              <a:ext cx="101476" cy="144225"/>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2353543" y="3258456"/>
            <a:ext cx="3650604" cy="3999666"/>
          </a:xfrm>
          <a:custGeom>
            <a:avLst/>
            <a:gdLst/>
            <a:ahLst/>
            <a:cxnLst/>
            <a:rect r="r" b="b" t="t" l="l"/>
            <a:pathLst>
              <a:path h="3999666" w="3650604">
                <a:moveTo>
                  <a:pt x="0" y="0"/>
                </a:moveTo>
                <a:lnTo>
                  <a:pt x="3650605" y="0"/>
                </a:lnTo>
                <a:lnTo>
                  <a:pt x="3650605" y="3999666"/>
                </a:lnTo>
                <a:lnTo>
                  <a:pt x="0" y="399966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5" id="15"/>
          <p:cNvSpPr txBox="true"/>
          <p:nvPr/>
        </p:nvSpPr>
        <p:spPr>
          <a:xfrm rot="0">
            <a:off x="4304120" y="1655071"/>
            <a:ext cx="11614558" cy="769188"/>
          </a:xfrm>
          <a:prstGeom prst="rect">
            <a:avLst/>
          </a:prstGeom>
        </p:spPr>
        <p:txBody>
          <a:bodyPr anchor="t" rtlCol="false" tIns="0" lIns="0" bIns="0" rIns="0">
            <a:spAutoFit/>
          </a:bodyPr>
          <a:lstStyle/>
          <a:p>
            <a:pPr algn="l">
              <a:lnSpc>
                <a:spcPts val="5991"/>
              </a:lnSpc>
            </a:pPr>
            <a:r>
              <a:rPr lang="en-US" sz="5164" b="true">
                <a:solidFill>
                  <a:srgbClr val="FFFFFF"/>
                </a:solidFill>
                <a:latin typeface="Maven Pro Heavy"/>
                <a:ea typeface="Maven Pro Heavy"/>
                <a:cs typeface="Maven Pro Heavy"/>
                <a:sym typeface="Maven Pro Heavy"/>
              </a:rPr>
              <a:t>Multi Stage Sampling</a:t>
            </a:r>
          </a:p>
        </p:txBody>
      </p:sp>
      <p:sp>
        <p:nvSpPr>
          <p:cNvPr name="TextBox 16" id="16"/>
          <p:cNvSpPr txBox="true"/>
          <p:nvPr/>
        </p:nvSpPr>
        <p:spPr>
          <a:xfrm rot="0">
            <a:off x="2948588" y="3083951"/>
            <a:ext cx="8778673" cy="4428819"/>
          </a:xfrm>
          <a:prstGeom prst="rect">
            <a:avLst/>
          </a:prstGeom>
        </p:spPr>
        <p:txBody>
          <a:bodyPr anchor="t" rtlCol="false" tIns="0" lIns="0" bIns="0" rIns="0">
            <a:spAutoFit/>
          </a:bodyPr>
          <a:lstStyle/>
          <a:p>
            <a:pPr algn="just">
              <a:lnSpc>
                <a:spcPts val="4426"/>
              </a:lnSpc>
            </a:pPr>
            <a:r>
              <a:rPr lang="en-US" sz="3162">
                <a:solidFill>
                  <a:srgbClr val="FFFFFF"/>
                </a:solidFill>
                <a:latin typeface="Hind Jalandhar"/>
                <a:ea typeface="Hind Jalandhar"/>
                <a:cs typeface="Hind Jalandhar"/>
                <a:sym typeface="Hind Jalandhar"/>
              </a:rPr>
              <a:t>Gabungan dari beberapa teknik pengambilan sampel yang dilakukan dalam beberapa tahap. Pada setiap tahap, sampel diambil dari kelompok yang semakin kecil. Metode ini cocok untuk penelitian dengan populasi besar dan tersebar luas. Contoh penerapan: memilih provinsi, kabupaten, lalu desa secara bertahap untuk survei kesehatan.</a:t>
            </a:r>
          </a:p>
          <a:p>
            <a:pPr algn="just">
              <a:lnSpc>
                <a:spcPts val="4006"/>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111" r="0" b="-9111"/>
            </a:stretch>
          </a:blipFill>
        </p:spPr>
      </p:sp>
      <p:grpSp>
        <p:nvGrpSpPr>
          <p:cNvPr name="Group 3" id="3"/>
          <p:cNvGrpSpPr/>
          <p:nvPr/>
        </p:nvGrpSpPr>
        <p:grpSpPr>
          <a:xfrm rot="0">
            <a:off x="685003" y="776779"/>
            <a:ext cx="16917995" cy="8733442"/>
            <a:chOff x="0" y="0"/>
            <a:chExt cx="4455768" cy="2300166"/>
          </a:xfrm>
        </p:grpSpPr>
        <p:sp>
          <p:nvSpPr>
            <p:cNvPr name="Freeform 4" id="4"/>
            <p:cNvSpPr/>
            <p:nvPr/>
          </p:nvSpPr>
          <p:spPr>
            <a:xfrm flipH="false" flipV="false" rot="0">
              <a:off x="0" y="0"/>
              <a:ext cx="4455768" cy="2300166"/>
            </a:xfrm>
            <a:custGeom>
              <a:avLst/>
              <a:gdLst/>
              <a:ahLst/>
              <a:cxnLst/>
              <a:rect r="r" b="b" t="t" l="l"/>
              <a:pathLst>
                <a:path h="2300166" w="4455768">
                  <a:moveTo>
                    <a:pt x="0" y="0"/>
                  </a:moveTo>
                  <a:lnTo>
                    <a:pt x="4455768" y="0"/>
                  </a:lnTo>
                  <a:lnTo>
                    <a:pt x="4455768" y="2300166"/>
                  </a:lnTo>
                  <a:lnTo>
                    <a:pt x="0" y="2300166"/>
                  </a:lnTo>
                  <a:close/>
                </a:path>
              </a:pathLst>
            </a:custGeom>
            <a:solidFill>
              <a:srgbClr val="000000">
                <a:alpha val="0"/>
              </a:srgbClr>
            </a:solidFill>
            <a:ln w="95250" cap="sq">
              <a:solidFill>
                <a:srgbClr val="B8A141"/>
              </a:solidFill>
              <a:prstDash val="solid"/>
              <a:miter/>
            </a:ln>
          </p:spPr>
        </p:sp>
        <p:sp>
          <p:nvSpPr>
            <p:cNvPr name="TextBox 5" id="5"/>
            <p:cNvSpPr txBox="true"/>
            <p:nvPr/>
          </p:nvSpPr>
          <p:spPr>
            <a:xfrm>
              <a:off x="0" y="-38100"/>
              <a:ext cx="4455768" cy="233826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5400000">
            <a:off x="3106723" y="1149730"/>
            <a:ext cx="624449" cy="1770344"/>
          </a:xfrm>
          <a:custGeom>
            <a:avLst/>
            <a:gdLst/>
            <a:ahLst/>
            <a:cxnLst/>
            <a:rect r="r" b="b" t="t" l="l"/>
            <a:pathLst>
              <a:path h="1770344" w="624449">
                <a:moveTo>
                  <a:pt x="624449" y="1770344"/>
                </a:moveTo>
                <a:lnTo>
                  <a:pt x="0" y="1770344"/>
                </a:lnTo>
                <a:lnTo>
                  <a:pt x="0" y="0"/>
                </a:lnTo>
                <a:lnTo>
                  <a:pt x="624449" y="0"/>
                </a:lnTo>
                <a:lnTo>
                  <a:pt x="624449" y="177034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false" rot="-10800000">
            <a:off x="-15395" y="0"/>
            <a:ext cx="2549171" cy="5270842"/>
          </a:xfrm>
          <a:custGeom>
            <a:avLst/>
            <a:gdLst/>
            <a:ahLst/>
            <a:cxnLst/>
            <a:rect r="r" b="b" t="t" l="l"/>
            <a:pathLst>
              <a:path h="5270842" w="2549171">
                <a:moveTo>
                  <a:pt x="2549171" y="0"/>
                </a:moveTo>
                <a:lnTo>
                  <a:pt x="0" y="0"/>
                </a:lnTo>
                <a:lnTo>
                  <a:pt x="0" y="5270842"/>
                </a:lnTo>
                <a:lnTo>
                  <a:pt x="2549171" y="5270842"/>
                </a:lnTo>
                <a:lnTo>
                  <a:pt x="254917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10800000">
            <a:off x="15757879" y="0"/>
            <a:ext cx="2549171" cy="5270842"/>
          </a:xfrm>
          <a:custGeom>
            <a:avLst/>
            <a:gdLst/>
            <a:ahLst/>
            <a:cxnLst/>
            <a:rect r="r" b="b" t="t" l="l"/>
            <a:pathLst>
              <a:path h="5270842" w="2549171">
                <a:moveTo>
                  <a:pt x="0" y="0"/>
                </a:moveTo>
                <a:lnTo>
                  <a:pt x="2549171" y="0"/>
                </a:lnTo>
                <a:lnTo>
                  <a:pt x="2549171" y="5270842"/>
                </a:lnTo>
                <a:lnTo>
                  <a:pt x="0" y="52708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818802">
            <a:off x="-983065" y="2892003"/>
            <a:ext cx="3655226" cy="7557798"/>
          </a:xfrm>
          <a:custGeom>
            <a:avLst/>
            <a:gdLst/>
            <a:ahLst/>
            <a:cxnLst/>
            <a:rect r="r" b="b" t="t" l="l"/>
            <a:pathLst>
              <a:path h="7557798" w="3655226">
                <a:moveTo>
                  <a:pt x="0" y="0"/>
                </a:moveTo>
                <a:lnTo>
                  <a:pt x="3655226" y="0"/>
                </a:lnTo>
                <a:lnTo>
                  <a:pt x="3655226" y="7557798"/>
                </a:lnTo>
                <a:lnTo>
                  <a:pt x="0" y="75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true" flipV="false" rot="-696796">
            <a:off x="15483649" y="2925969"/>
            <a:ext cx="3655226" cy="7557798"/>
          </a:xfrm>
          <a:custGeom>
            <a:avLst/>
            <a:gdLst/>
            <a:ahLst/>
            <a:cxnLst/>
            <a:rect r="r" b="b" t="t" l="l"/>
            <a:pathLst>
              <a:path h="7557798" w="3655226">
                <a:moveTo>
                  <a:pt x="3655226" y="0"/>
                </a:moveTo>
                <a:lnTo>
                  <a:pt x="0" y="0"/>
                </a:lnTo>
                <a:lnTo>
                  <a:pt x="0" y="7557799"/>
                </a:lnTo>
                <a:lnTo>
                  <a:pt x="3655226" y="7557799"/>
                </a:lnTo>
                <a:lnTo>
                  <a:pt x="365522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2151498" y="3749315"/>
            <a:ext cx="3781646" cy="3781646"/>
          </a:xfrm>
          <a:custGeom>
            <a:avLst/>
            <a:gdLst/>
            <a:ahLst/>
            <a:cxnLst/>
            <a:rect r="r" b="b" t="t" l="l"/>
            <a:pathLst>
              <a:path h="3781646" w="3781646">
                <a:moveTo>
                  <a:pt x="0" y="0"/>
                </a:moveTo>
                <a:lnTo>
                  <a:pt x="3781646" y="0"/>
                </a:lnTo>
                <a:lnTo>
                  <a:pt x="3781646" y="3781646"/>
                </a:lnTo>
                <a:lnTo>
                  <a:pt x="0" y="37816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4713347" y="1655071"/>
            <a:ext cx="10530105" cy="769188"/>
          </a:xfrm>
          <a:prstGeom prst="rect">
            <a:avLst/>
          </a:prstGeom>
        </p:spPr>
        <p:txBody>
          <a:bodyPr anchor="t" rtlCol="false" tIns="0" lIns="0" bIns="0" rIns="0">
            <a:spAutoFit/>
          </a:bodyPr>
          <a:lstStyle/>
          <a:p>
            <a:pPr algn="l">
              <a:lnSpc>
                <a:spcPts val="5991"/>
              </a:lnSpc>
            </a:pPr>
            <a:r>
              <a:rPr lang="en-US" sz="5164" b="true">
                <a:solidFill>
                  <a:srgbClr val="FFFFFF"/>
                </a:solidFill>
                <a:latin typeface="Maven Pro Heavy"/>
                <a:ea typeface="Maven Pro Heavy"/>
                <a:cs typeface="Maven Pro Heavy"/>
                <a:sym typeface="Maven Pro Heavy"/>
              </a:rPr>
              <a:t>Convenience Sampling</a:t>
            </a:r>
          </a:p>
        </p:txBody>
      </p:sp>
      <p:sp>
        <p:nvSpPr>
          <p:cNvPr name="TextBox 13" id="13"/>
          <p:cNvSpPr txBox="true"/>
          <p:nvPr/>
        </p:nvSpPr>
        <p:spPr>
          <a:xfrm rot="0">
            <a:off x="2533776" y="2814018"/>
            <a:ext cx="9130275" cy="3201364"/>
          </a:xfrm>
          <a:prstGeom prst="rect">
            <a:avLst/>
          </a:prstGeom>
        </p:spPr>
        <p:txBody>
          <a:bodyPr anchor="t" rtlCol="false" tIns="0" lIns="0" bIns="0" rIns="0">
            <a:spAutoFit/>
          </a:bodyPr>
          <a:lstStyle/>
          <a:p>
            <a:pPr algn="just">
              <a:lnSpc>
                <a:spcPts val="4286"/>
              </a:lnSpc>
            </a:pPr>
            <a:r>
              <a:rPr lang="en-US" sz="3062">
                <a:solidFill>
                  <a:srgbClr val="FFFFFF"/>
                </a:solidFill>
                <a:latin typeface="Hind Jalandhar"/>
                <a:ea typeface="Hind Jalandhar"/>
                <a:cs typeface="Hind Jalandhar"/>
                <a:sym typeface="Hind Jalandhar"/>
              </a:rPr>
              <a:t>Sampel dipilih berdasarkan kemudahan akses bagi peneliti, meskipun hal ini bisa menyebabkan bias karena tidak mewakili populasi secara keseluruhan. Teknik ini cepat dan murah. Contoh penerapan: mensurvei teman atau keluarga karena mudah diakses.</a:t>
            </a:r>
          </a:p>
          <a:p>
            <a:pPr algn="just">
              <a:lnSpc>
                <a:spcPts val="4006"/>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111" r="0" b="-9111"/>
            </a:stretch>
          </a:blipFill>
        </p:spPr>
      </p:sp>
      <p:sp>
        <p:nvSpPr>
          <p:cNvPr name="Freeform 3" id="3"/>
          <p:cNvSpPr/>
          <p:nvPr/>
        </p:nvSpPr>
        <p:spPr>
          <a:xfrm flipH="true" flipV="true" rot="-5400000">
            <a:off x="2820264" y="1149730"/>
            <a:ext cx="624449" cy="1770344"/>
          </a:xfrm>
          <a:custGeom>
            <a:avLst/>
            <a:gdLst/>
            <a:ahLst/>
            <a:cxnLst/>
            <a:rect r="r" b="b" t="t" l="l"/>
            <a:pathLst>
              <a:path h="1770344" w="624449">
                <a:moveTo>
                  <a:pt x="624449" y="1770344"/>
                </a:moveTo>
                <a:lnTo>
                  <a:pt x="0" y="1770344"/>
                </a:lnTo>
                <a:lnTo>
                  <a:pt x="0" y="0"/>
                </a:lnTo>
                <a:lnTo>
                  <a:pt x="624449" y="0"/>
                </a:lnTo>
                <a:lnTo>
                  <a:pt x="624449" y="177034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10800000">
            <a:off x="-15395" y="0"/>
            <a:ext cx="2549171" cy="5270842"/>
          </a:xfrm>
          <a:custGeom>
            <a:avLst/>
            <a:gdLst/>
            <a:ahLst/>
            <a:cxnLst/>
            <a:rect r="r" b="b" t="t" l="l"/>
            <a:pathLst>
              <a:path h="5270842" w="2549171">
                <a:moveTo>
                  <a:pt x="2549171" y="0"/>
                </a:moveTo>
                <a:lnTo>
                  <a:pt x="0" y="0"/>
                </a:lnTo>
                <a:lnTo>
                  <a:pt x="0" y="5270842"/>
                </a:lnTo>
                <a:lnTo>
                  <a:pt x="2549171" y="5270842"/>
                </a:lnTo>
                <a:lnTo>
                  <a:pt x="254917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0800000">
            <a:off x="15757879" y="0"/>
            <a:ext cx="2549171" cy="5270842"/>
          </a:xfrm>
          <a:custGeom>
            <a:avLst/>
            <a:gdLst/>
            <a:ahLst/>
            <a:cxnLst/>
            <a:rect r="r" b="b" t="t" l="l"/>
            <a:pathLst>
              <a:path h="5270842" w="2549171">
                <a:moveTo>
                  <a:pt x="0" y="0"/>
                </a:moveTo>
                <a:lnTo>
                  <a:pt x="2549171" y="0"/>
                </a:lnTo>
                <a:lnTo>
                  <a:pt x="2549171" y="5270842"/>
                </a:lnTo>
                <a:lnTo>
                  <a:pt x="0" y="52708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818802">
            <a:off x="-983065" y="2892003"/>
            <a:ext cx="3655226" cy="7557798"/>
          </a:xfrm>
          <a:custGeom>
            <a:avLst/>
            <a:gdLst/>
            <a:ahLst/>
            <a:cxnLst/>
            <a:rect r="r" b="b" t="t" l="l"/>
            <a:pathLst>
              <a:path h="7557798" w="3655226">
                <a:moveTo>
                  <a:pt x="0" y="0"/>
                </a:moveTo>
                <a:lnTo>
                  <a:pt x="3655226" y="0"/>
                </a:lnTo>
                <a:lnTo>
                  <a:pt x="3655226" y="7557798"/>
                </a:lnTo>
                <a:lnTo>
                  <a:pt x="0" y="75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true" flipV="false" rot="-696796">
            <a:off x="15483649" y="2925969"/>
            <a:ext cx="3655226" cy="7557798"/>
          </a:xfrm>
          <a:custGeom>
            <a:avLst/>
            <a:gdLst/>
            <a:ahLst/>
            <a:cxnLst/>
            <a:rect r="r" b="b" t="t" l="l"/>
            <a:pathLst>
              <a:path h="7557798" w="3655226">
                <a:moveTo>
                  <a:pt x="3655226" y="0"/>
                </a:moveTo>
                <a:lnTo>
                  <a:pt x="0" y="0"/>
                </a:lnTo>
                <a:lnTo>
                  <a:pt x="0" y="7557799"/>
                </a:lnTo>
                <a:lnTo>
                  <a:pt x="3655226" y="7557799"/>
                </a:lnTo>
                <a:lnTo>
                  <a:pt x="3655226"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2247316" y="3150626"/>
            <a:ext cx="385291" cy="402945"/>
            <a:chOff x="0" y="0"/>
            <a:chExt cx="101476" cy="106125"/>
          </a:xfrm>
        </p:grpSpPr>
        <p:sp>
          <p:nvSpPr>
            <p:cNvPr name="Freeform 9" id="9"/>
            <p:cNvSpPr/>
            <p:nvPr/>
          </p:nvSpPr>
          <p:spPr>
            <a:xfrm flipH="false" flipV="false" rot="0">
              <a:off x="0" y="0"/>
              <a:ext cx="101476" cy="106125"/>
            </a:xfrm>
            <a:custGeom>
              <a:avLst/>
              <a:gdLst/>
              <a:ahLst/>
              <a:cxnLst/>
              <a:rect r="r" b="b" t="t" l="l"/>
              <a:pathLst>
                <a:path h="106125" w="101476">
                  <a:moveTo>
                    <a:pt x="0" y="0"/>
                  </a:moveTo>
                  <a:lnTo>
                    <a:pt x="101476" y="0"/>
                  </a:lnTo>
                  <a:lnTo>
                    <a:pt x="101476" y="106125"/>
                  </a:lnTo>
                  <a:lnTo>
                    <a:pt x="0" y="106125"/>
                  </a:lnTo>
                  <a:close/>
                </a:path>
              </a:pathLst>
            </a:custGeom>
            <a:solidFill>
              <a:srgbClr val="D1B852"/>
            </a:solidFill>
          </p:spPr>
        </p:sp>
        <p:sp>
          <p:nvSpPr>
            <p:cNvPr name="TextBox 10" id="10"/>
            <p:cNvSpPr txBox="true"/>
            <p:nvPr/>
          </p:nvSpPr>
          <p:spPr>
            <a:xfrm>
              <a:off x="0" y="-38100"/>
              <a:ext cx="101476" cy="14422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4304120" y="1655071"/>
            <a:ext cx="11614558" cy="769188"/>
          </a:xfrm>
          <a:prstGeom prst="rect">
            <a:avLst/>
          </a:prstGeom>
        </p:spPr>
        <p:txBody>
          <a:bodyPr anchor="t" rtlCol="false" tIns="0" lIns="0" bIns="0" rIns="0">
            <a:spAutoFit/>
          </a:bodyPr>
          <a:lstStyle/>
          <a:p>
            <a:pPr algn="l">
              <a:lnSpc>
                <a:spcPts val="5991"/>
              </a:lnSpc>
            </a:pPr>
            <a:r>
              <a:rPr lang="en-US" sz="5164" b="true">
                <a:solidFill>
                  <a:srgbClr val="FFFFFF"/>
                </a:solidFill>
                <a:latin typeface="Maven Pro Heavy"/>
                <a:ea typeface="Maven Pro Heavy"/>
                <a:cs typeface="Maven Pro Heavy"/>
                <a:sym typeface="Maven Pro Heavy"/>
              </a:rPr>
              <a:t>Purposive Sampling</a:t>
            </a:r>
          </a:p>
        </p:txBody>
      </p:sp>
      <p:sp>
        <p:nvSpPr>
          <p:cNvPr name="TextBox 12" id="12"/>
          <p:cNvSpPr txBox="true"/>
          <p:nvPr/>
        </p:nvSpPr>
        <p:spPr>
          <a:xfrm rot="0">
            <a:off x="2882548" y="3093476"/>
            <a:ext cx="12625391" cy="2693999"/>
          </a:xfrm>
          <a:prstGeom prst="rect">
            <a:avLst/>
          </a:prstGeom>
        </p:spPr>
        <p:txBody>
          <a:bodyPr anchor="t" rtlCol="false" tIns="0" lIns="0" bIns="0" rIns="0">
            <a:spAutoFit/>
          </a:bodyPr>
          <a:lstStyle/>
          <a:p>
            <a:pPr algn="just">
              <a:lnSpc>
                <a:spcPts val="4286"/>
              </a:lnSpc>
            </a:pPr>
            <a:r>
              <a:rPr lang="en-US" sz="3062">
                <a:solidFill>
                  <a:srgbClr val="FFFFFF"/>
                </a:solidFill>
                <a:latin typeface="Hind Jalandhar"/>
                <a:ea typeface="Hind Jalandhar"/>
                <a:cs typeface="Hind Jalandhar"/>
                <a:sym typeface="Hind Jalandhar"/>
              </a:rPr>
              <a:t>Sampel dipilih berdasarkan tujuan penelitian atau karakteristik yang spesifik, sering digunakan dalam penelitian kualitatif untuk wawasan yang lebih mendalam. Contoh penerapan: memilih pakar untuk wawancara mendalam tentang kebijakan publik.</a:t>
            </a:r>
          </a:p>
          <a:p>
            <a:pPr algn="just">
              <a:lnSpc>
                <a:spcPts val="4286"/>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111" r="0" b="-9111"/>
            </a:stretch>
          </a:blipFill>
        </p:spPr>
      </p:sp>
      <p:grpSp>
        <p:nvGrpSpPr>
          <p:cNvPr name="Group 3" id="3"/>
          <p:cNvGrpSpPr/>
          <p:nvPr/>
        </p:nvGrpSpPr>
        <p:grpSpPr>
          <a:xfrm rot="0">
            <a:off x="685003" y="776779"/>
            <a:ext cx="16917995" cy="8733442"/>
            <a:chOff x="0" y="0"/>
            <a:chExt cx="4455768" cy="2300166"/>
          </a:xfrm>
        </p:grpSpPr>
        <p:sp>
          <p:nvSpPr>
            <p:cNvPr name="Freeform 4" id="4"/>
            <p:cNvSpPr/>
            <p:nvPr/>
          </p:nvSpPr>
          <p:spPr>
            <a:xfrm flipH="false" flipV="false" rot="0">
              <a:off x="0" y="0"/>
              <a:ext cx="4455768" cy="2300166"/>
            </a:xfrm>
            <a:custGeom>
              <a:avLst/>
              <a:gdLst/>
              <a:ahLst/>
              <a:cxnLst/>
              <a:rect r="r" b="b" t="t" l="l"/>
              <a:pathLst>
                <a:path h="2300166" w="4455768">
                  <a:moveTo>
                    <a:pt x="0" y="0"/>
                  </a:moveTo>
                  <a:lnTo>
                    <a:pt x="4455768" y="0"/>
                  </a:lnTo>
                  <a:lnTo>
                    <a:pt x="4455768" y="2300166"/>
                  </a:lnTo>
                  <a:lnTo>
                    <a:pt x="0" y="2300166"/>
                  </a:lnTo>
                  <a:close/>
                </a:path>
              </a:pathLst>
            </a:custGeom>
            <a:solidFill>
              <a:srgbClr val="000000">
                <a:alpha val="0"/>
              </a:srgbClr>
            </a:solidFill>
            <a:ln w="95250" cap="sq">
              <a:solidFill>
                <a:srgbClr val="B8A141"/>
              </a:solidFill>
              <a:prstDash val="solid"/>
              <a:miter/>
            </a:ln>
          </p:spPr>
        </p:sp>
        <p:sp>
          <p:nvSpPr>
            <p:cNvPr name="TextBox 5" id="5"/>
            <p:cNvSpPr txBox="true"/>
            <p:nvPr/>
          </p:nvSpPr>
          <p:spPr>
            <a:xfrm>
              <a:off x="0" y="-38100"/>
              <a:ext cx="4455768" cy="233826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5400000">
            <a:off x="2820264" y="1149730"/>
            <a:ext cx="624449" cy="1770344"/>
          </a:xfrm>
          <a:custGeom>
            <a:avLst/>
            <a:gdLst/>
            <a:ahLst/>
            <a:cxnLst/>
            <a:rect r="r" b="b" t="t" l="l"/>
            <a:pathLst>
              <a:path h="1770344" w="624449">
                <a:moveTo>
                  <a:pt x="624449" y="1770344"/>
                </a:moveTo>
                <a:lnTo>
                  <a:pt x="0" y="1770344"/>
                </a:lnTo>
                <a:lnTo>
                  <a:pt x="0" y="0"/>
                </a:lnTo>
                <a:lnTo>
                  <a:pt x="624449" y="0"/>
                </a:lnTo>
                <a:lnTo>
                  <a:pt x="624449" y="177034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false" rot="-10800000">
            <a:off x="-15395" y="0"/>
            <a:ext cx="2549171" cy="5270842"/>
          </a:xfrm>
          <a:custGeom>
            <a:avLst/>
            <a:gdLst/>
            <a:ahLst/>
            <a:cxnLst/>
            <a:rect r="r" b="b" t="t" l="l"/>
            <a:pathLst>
              <a:path h="5270842" w="2549171">
                <a:moveTo>
                  <a:pt x="2549171" y="0"/>
                </a:moveTo>
                <a:lnTo>
                  <a:pt x="0" y="0"/>
                </a:lnTo>
                <a:lnTo>
                  <a:pt x="0" y="5270842"/>
                </a:lnTo>
                <a:lnTo>
                  <a:pt x="2549171" y="5270842"/>
                </a:lnTo>
                <a:lnTo>
                  <a:pt x="254917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10800000">
            <a:off x="15757879" y="0"/>
            <a:ext cx="2549171" cy="5270842"/>
          </a:xfrm>
          <a:custGeom>
            <a:avLst/>
            <a:gdLst/>
            <a:ahLst/>
            <a:cxnLst/>
            <a:rect r="r" b="b" t="t" l="l"/>
            <a:pathLst>
              <a:path h="5270842" w="2549171">
                <a:moveTo>
                  <a:pt x="0" y="0"/>
                </a:moveTo>
                <a:lnTo>
                  <a:pt x="2549171" y="0"/>
                </a:lnTo>
                <a:lnTo>
                  <a:pt x="2549171" y="5270842"/>
                </a:lnTo>
                <a:lnTo>
                  <a:pt x="0" y="52708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818802">
            <a:off x="-983065" y="2892003"/>
            <a:ext cx="3655226" cy="7557798"/>
          </a:xfrm>
          <a:custGeom>
            <a:avLst/>
            <a:gdLst/>
            <a:ahLst/>
            <a:cxnLst/>
            <a:rect r="r" b="b" t="t" l="l"/>
            <a:pathLst>
              <a:path h="7557798" w="3655226">
                <a:moveTo>
                  <a:pt x="0" y="0"/>
                </a:moveTo>
                <a:lnTo>
                  <a:pt x="3655226" y="0"/>
                </a:lnTo>
                <a:lnTo>
                  <a:pt x="3655226" y="7557798"/>
                </a:lnTo>
                <a:lnTo>
                  <a:pt x="0" y="75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true" flipV="false" rot="-696796">
            <a:off x="15483649" y="2925969"/>
            <a:ext cx="3655226" cy="7557798"/>
          </a:xfrm>
          <a:custGeom>
            <a:avLst/>
            <a:gdLst/>
            <a:ahLst/>
            <a:cxnLst/>
            <a:rect r="r" b="b" t="t" l="l"/>
            <a:pathLst>
              <a:path h="7557798" w="3655226">
                <a:moveTo>
                  <a:pt x="3655226" y="0"/>
                </a:moveTo>
                <a:lnTo>
                  <a:pt x="0" y="0"/>
                </a:lnTo>
                <a:lnTo>
                  <a:pt x="0" y="7557799"/>
                </a:lnTo>
                <a:lnTo>
                  <a:pt x="3655226" y="7557799"/>
                </a:lnTo>
                <a:lnTo>
                  <a:pt x="3655226"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1" id="11"/>
          <p:cNvGrpSpPr/>
          <p:nvPr/>
        </p:nvGrpSpPr>
        <p:grpSpPr>
          <a:xfrm rot="0">
            <a:off x="2247316" y="3150626"/>
            <a:ext cx="385291" cy="402945"/>
            <a:chOff x="0" y="0"/>
            <a:chExt cx="101476" cy="106125"/>
          </a:xfrm>
        </p:grpSpPr>
        <p:sp>
          <p:nvSpPr>
            <p:cNvPr name="Freeform 12" id="12"/>
            <p:cNvSpPr/>
            <p:nvPr/>
          </p:nvSpPr>
          <p:spPr>
            <a:xfrm flipH="false" flipV="false" rot="0">
              <a:off x="0" y="0"/>
              <a:ext cx="101476" cy="106125"/>
            </a:xfrm>
            <a:custGeom>
              <a:avLst/>
              <a:gdLst/>
              <a:ahLst/>
              <a:cxnLst/>
              <a:rect r="r" b="b" t="t" l="l"/>
              <a:pathLst>
                <a:path h="106125" w="101476">
                  <a:moveTo>
                    <a:pt x="0" y="0"/>
                  </a:moveTo>
                  <a:lnTo>
                    <a:pt x="101476" y="0"/>
                  </a:lnTo>
                  <a:lnTo>
                    <a:pt x="101476" y="106125"/>
                  </a:lnTo>
                  <a:lnTo>
                    <a:pt x="0" y="106125"/>
                  </a:lnTo>
                  <a:close/>
                </a:path>
              </a:pathLst>
            </a:custGeom>
            <a:solidFill>
              <a:srgbClr val="D1B852"/>
            </a:solidFill>
          </p:spPr>
        </p:sp>
        <p:sp>
          <p:nvSpPr>
            <p:cNvPr name="TextBox 13" id="13"/>
            <p:cNvSpPr txBox="true"/>
            <p:nvPr/>
          </p:nvSpPr>
          <p:spPr>
            <a:xfrm>
              <a:off x="0" y="-38100"/>
              <a:ext cx="101476" cy="144225"/>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12353543" y="3258456"/>
            <a:ext cx="3650604" cy="3999666"/>
          </a:xfrm>
          <a:custGeom>
            <a:avLst/>
            <a:gdLst/>
            <a:ahLst/>
            <a:cxnLst/>
            <a:rect r="r" b="b" t="t" l="l"/>
            <a:pathLst>
              <a:path h="3999666" w="3650604">
                <a:moveTo>
                  <a:pt x="0" y="0"/>
                </a:moveTo>
                <a:lnTo>
                  <a:pt x="3650605" y="0"/>
                </a:lnTo>
                <a:lnTo>
                  <a:pt x="3650605" y="3999666"/>
                </a:lnTo>
                <a:lnTo>
                  <a:pt x="0" y="399966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5" id="15"/>
          <p:cNvSpPr txBox="true"/>
          <p:nvPr/>
        </p:nvSpPr>
        <p:spPr>
          <a:xfrm rot="0">
            <a:off x="4304120" y="1655071"/>
            <a:ext cx="11614558" cy="769188"/>
          </a:xfrm>
          <a:prstGeom prst="rect">
            <a:avLst/>
          </a:prstGeom>
        </p:spPr>
        <p:txBody>
          <a:bodyPr anchor="t" rtlCol="false" tIns="0" lIns="0" bIns="0" rIns="0">
            <a:spAutoFit/>
          </a:bodyPr>
          <a:lstStyle/>
          <a:p>
            <a:pPr algn="l">
              <a:lnSpc>
                <a:spcPts val="5991"/>
              </a:lnSpc>
            </a:pPr>
            <a:r>
              <a:rPr lang="en-US" sz="5164" b="true">
                <a:solidFill>
                  <a:srgbClr val="FFFFFF"/>
                </a:solidFill>
                <a:latin typeface="Maven Pro Heavy"/>
                <a:ea typeface="Maven Pro Heavy"/>
                <a:cs typeface="Maven Pro Heavy"/>
                <a:sym typeface="Maven Pro Heavy"/>
              </a:rPr>
              <a:t>Snowball Sampling</a:t>
            </a:r>
          </a:p>
        </p:txBody>
      </p:sp>
      <p:sp>
        <p:nvSpPr>
          <p:cNvPr name="TextBox 16" id="16"/>
          <p:cNvSpPr txBox="true"/>
          <p:nvPr/>
        </p:nvSpPr>
        <p:spPr>
          <a:xfrm rot="0">
            <a:off x="2948588" y="3083951"/>
            <a:ext cx="8499134" cy="3866844"/>
          </a:xfrm>
          <a:prstGeom prst="rect">
            <a:avLst/>
          </a:prstGeom>
        </p:spPr>
        <p:txBody>
          <a:bodyPr anchor="t" rtlCol="false" tIns="0" lIns="0" bIns="0" rIns="0">
            <a:spAutoFit/>
          </a:bodyPr>
          <a:lstStyle/>
          <a:p>
            <a:pPr algn="just">
              <a:lnSpc>
                <a:spcPts val="4426"/>
              </a:lnSpc>
            </a:pPr>
            <a:r>
              <a:rPr lang="en-US" sz="3162">
                <a:solidFill>
                  <a:srgbClr val="FFFFFF"/>
                </a:solidFill>
                <a:latin typeface="Hind Jalandhar"/>
                <a:ea typeface="Hind Jalandhar"/>
                <a:cs typeface="Hind Jalandhar"/>
                <a:sym typeface="Hind Jalandhar"/>
              </a:rPr>
              <a:t>Digunakan untuk populasi yang sulit dijangkau, di mana peneliti meminta partisipan awal untuk merekomendasikan orang lain yang sesuai dengan kriteria penelitian. Contoh penerapan: meminta referensi dari pengguna narkoba untuk menemukan lebih banyak partisipan penelitian.</a:t>
            </a:r>
          </a:p>
          <a:p>
            <a:pPr algn="just">
              <a:lnSpc>
                <a:spcPts val="4006"/>
              </a:lnSpc>
              <a:spcBef>
                <a:spcPct val="0"/>
              </a:spcBef>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111" r="0" b="-9111"/>
            </a:stretch>
          </a:blipFill>
        </p:spPr>
      </p:sp>
      <p:grpSp>
        <p:nvGrpSpPr>
          <p:cNvPr name="Group 3" id="3"/>
          <p:cNvGrpSpPr/>
          <p:nvPr/>
        </p:nvGrpSpPr>
        <p:grpSpPr>
          <a:xfrm rot="0">
            <a:off x="685003" y="776779"/>
            <a:ext cx="16917995" cy="8733442"/>
            <a:chOff x="0" y="0"/>
            <a:chExt cx="4455768" cy="2300166"/>
          </a:xfrm>
        </p:grpSpPr>
        <p:sp>
          <p:nvSpPr>
            <p:cNvPr name="Freeform 4" id="4"/>
            <p:cNvSpPr/>
            <p:nvPr/>
          </p:nvSpPr>
          <p:spPr>
            <a:xfrm flipH="false" flipV="false" rot="0">
              <a:off x="0" y="0"/>
              <a:ext cx="4455768" cy="2300166"/>
            </a:xfrm>
            <a:custGeom>
              <a:avLst/>
              <a:gdLst/>
              <a:ahLst/>
              <a:cxnLst/>
              <a:rect r="r" b="b" t="t" l="l"/>
              <a:pathLst>
                <a:path h="2300166" w="4455768">
                  <a:moveTo>
                    <a:pt x="0" y="0"/>
                  </a:moveTo>
                  <a:lnTo>
                    <a:pt x="4455768" y="0"/>
                  </a:lnTo>
                  <a:lnTo>
                    <a:pt x="4455768" y="2300166"/>
                  </a:lnTo>
                  <a:lnTo>
                    <a:pt x="0" y="2300166"/>
                  </a:lnTo>
                  <a:close/>
                </a:path>
              </a:pathLst>
            </a:custGeom>
            <a:solidFill>
              <a:srgbClr val="000000">
                <a:alpha val="0"/>
              </a:srgbClr>
            </a:solidFill>
            <a:ln w="95250" cap="sq">
              <a:solidFill>
                <a:srgbClr val="B8A141"/>
              </a:solidFill>
              <a:prstDash val="solid"/>
              <a:miter/>
            </a:ln>
          </p:spPr>
        </p:sp>
        <p:sp>
          <p:nvSpPr>
            <p:cNvPr name="TextBox 5" id="5"/>
            <p:cNvSpPr txBox="true"/>
            <p:nvPr/>
          </p:nvSpPr>
          <p:spPr>
            <a:xfrm>
              <a:off x="0" y="-38100"/>
              <a:ext cx="4455768" cy="233826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5400000">
            <a:off x="3106723" y="1149730"/>
            <a:ext cx="624449" cy="1770344"/>
          </a:xfrm>
          <a:custGeom>
            <a:avLst/>
            <a:gdLst/>
            <a:ahLst/>
            <a:cxnLst/>
            <a:rect r="r" b="b" t="t" l="l"/>
            <a:pathLst>
              <a:path h="1770344" w="624449">
                <a:moveTo>
                  <a:pt x="624449" y="1770344"/>
                </a:moveTo>
                <a:lnTo>
                  <a:pt x="0" y="1770344"/>
                </a:lnTo>
                <a:lnTo>
                  <a:pt x="0" y="0"/>
                </a:lnTo>
                <a:lnTo>
                  <a:pt x="624449" y="0"/>
                </a:lnTo>
                <a:lnTo>
                  <a:pt x="624449" y="177034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false" rot="-10800000">
            <a:off x="-15395" y="0"/>
            <a:ext cx="2549171" cy="5270842"/>
          </a:xfrm>
          <a:custGeom>
            <a:avLst/>
            <a:gdLst/>
            <a:ahLst/>
            <a:cxnLst/>
            <a:rect r="r" b="b" t="t" l="l"/>
            <a:pathLst>
              <a:path h="5270842" w="2549171">
                <a:moveTo>
                  <a:pt x="2549171" y="0"/>
                </a:moveTo>
                <a:lnTo>
                  <a:pt x="0" y="0"/>
                </a:lnTo>
                <a:lnTo>
                  <a:pt x="0" y="5270842"/>
                </a:lnTo>
                <a:lnTo>
                  <a:pt x="2549171" y="5270842"/>
                </a:lnTo>
                <a:lnTo>
                  <a:pt x="254917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10800000">
            <a:off x="15757879" y="0"/>
            <a:ext cx="2549171" cy="5270842"/>
          </a:xfrm>
          <a:custGeom>
            <a:avLst/>
            <a:gdLst/>
            <a:ahLst/>
            <a:cxnLst/>
            <a:rect r="r" b="b" t="t" l="l"/>
            <a:pathLst>
              <a:path h="5270842" w="2549171">
                <a:moveTo>
                  <a:pt x="0" y="0"/>
                </a:moveTo>
                <a:lnTo>
                  <a:pt x="2549171" y="0"/>
                </a:lnTo>
                <a:lnTo>
                  <a:pt x="2549171" y="5270842"/>
                </a:lnTo>
                <a:lnTo>
                  <a:pt x="0" y="52708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247807" y="3578286"/>
            <a:ext cx="3884923" cy="2705319"/>
          </a:xfrm>
          <a:custGeom>
            <a:avLst/>
            <a:gdLst/>
            <a:ahLst/>
            <a:cxnLst/>
            <a:rect r="r" b="b" t="t" l="l"/>
            <a:pathLst>
              <a:path h="2705319" w="3884923">
                <a:moveTo>
                  <a:pt x="0" y="0"/>
                </a:moveTo>
                <a:lnTo>
                  <a:pt x="3884923" y="0"/>
                </a:lnTo>
                <a:lnTo>
                  <a:pt x="3884923" y="2705319"/>
                </a:lnTo>
                <a:lnTo>
                  <a:pt x="0" y="27053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818802">
            <a:off x="-983065" y="2892003"/>
            <a:ext cx="3655226" cy="7557798"/>
          </a:xfrm>
          <a:custGeom>
            <a:avLst/>
            <a:gdLst/>
            <a:ahLst/>
            <a:cxnLst/>
            <a:rect r="r" b="b" t="t" l="l"/>
            <a:pathLst>
              <a:path h="7557798" w="3655226">
                <a:moveTo>
                  <a:pt x="0" y="0"/>
                </a:moveTo>
                <a:lnTo>
                  <a:pt x="3655226" y="0"/>
                </a:lnTo>
                <a:lnTo>
                  <a:pt x="3655226" y="7557798"/>
                </a:lnTo>
                <a:lnTo>
                  <a:pt x="0" y="75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true" flipV="false" rot="-696796">
            <a:off x="15483649" y="2925969"/>
            <a:ext cx="3655226" cy="7557798"/>
          </a:xfrm>
          <a:custGeom>
            <a:avLst/>
            <a:gdLst/>
            <a:ahLst/>
            <a:cxnLst/>
            <a:rect r="r" b="b" t="t" l="l"/>
            <a:pathLst>
              <a:path h="7557798" w="3655226">
                <a:moveTo>
                  <a:pt x="3655226" y="0"/>
                </a:moveTo>
                <a:lnTo>
                  <a:pt x="0" y="0"/>
                </a:lnTo>
                <a:lnTo>
                  <a:pt x="0" y="7557799"/>
                </a:lnTo>
                <a:lnTo>
                  <a:pt x="3655226" y="7557799"/>
                </a:lnTo>
                <a:lnTo>
                  <a:pt x="365522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4713347" y="1655071"/>
            <a:ext cx="10530105" cy="769188"/>
          </a:xfrm>
          <a:prstGeom prst="rect">
            <a:avLst/>
          </a:prstGeom>
        </p:spPr>
        <p:txBody>
          <a:bodyPr anchor="t" rtlCol="false" tIns="0" lIns="0" bIns="0" rIns="0">
            <a:spAutoFit/>
          </a:bodyPr>
          <a:lstStyle/>
          <a:p>
            <a:pPr algn="l">
              <a:lnSpc>
                <a:spcPts val="5991"/>
              </a:lnSpc>
            </a:pPr>
            <a:r>
              <a:rPr lang="en-US" sz="5164" b="true">
                <a:solidFill>
                  <a:srgbClr val="FFFFFF"/>
                </a:solidFill>
                <a:latin typeface="Maven Pro Heavy"/>
                <a:ea typeface="Maven Pro Heavy"/>
                <a:cs typeface="Maven Pro Heavy"/>
                <a:sym typeface="Maven Pro Heavy"/>
              </a:rPr>
              <a:t>Quota Sampling</a:t>
            </a:r>
          </a:p>
        </p:txBody>
      </p:sp>
      <p:sp>
        <p:nvSpPr>
          <p:cNvPr name="TextBox 13" id="13"/>
          <p:cNvSpPr txBox="true"/>
          <p:nvPr/>
        </p:nvSpPr>
        <p:spPr>
          <a:xfrm rot="0">
            <a:off x="4369956" y="3233935"/>
            <a:ext cx="10530105" cy="2682748"/>
          </a:xfrm>
          <a:prstGeom prst="rect">
            <a:avLst/>
          </a:prstGeom>
        </p:spPr>
        <p:txBody>
          <a:bodyPr anchor="t" rtlCol="false" tIns="0" lIns="0" bIns="0" rIns="0">
            <a:spAutoFit/>
          </a:bodyPr>
          <a:lstStyle/>
          <a:p>
            <a:pPr algn="l">
              <a:lnSpc>
                <a:spcPts val="3595"/>
              </a:lnSpc>
            </a:pPr>
            <a:r>
              <a:rPr lang="en-US" sz="3099">
                <a:solidFill>
                  <a:srgbClr val="FFFFFF"/>
                </a:solidFill>
                <a:latin typeface="Hind Jalandhar"/>
                <a:ea typeface="Hind Jalandhar"/>
                <a:cs typeface="Hind Jalandhar"/>
                <a:sym typeface="Hind Jalandhar"/>
              </a:rPr>
              <a:t>Peneliti menentukan kuota tertentu yang harus dipenuhi untuk setiap kategori dalam populasi, seperti usia atau jenis kelamin. Sampel diambil berdasarkan kuota ini tanpa proses acak. Contoh penerapan: memastikan 50% pria dan 50% wanita untuk survei politik.</a:t>
            </a:r>
          </a:p>
          <a:p>
            <a:pPr algn="l">
              <a:lnSpc>
                <a:spcPts val="3595"/>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111" r="0" b="-9111"/>
            </a:stretch>
          </a:blipFill>
        </p:spPr>
      </p:sp>
      <p:sp>
        <p:nvSpPr>
          <p:cNvPr name="Freeform 3" id="3"/>
          <p:cNvSpPr/>
          <p:nvPr/>
        </p:nvSpPr>
        <p:spPr>
          <a:xfrm flipH="true" flipV="true" rot="-5400000">
            <a:off x="2820264" y="1149730"/>
            <a:ext cx="624449" cy="1770344"/>
          </a:xfrm>
          <a:custGeom>
            <a:avLst/>
            <a:gdLst/>
            <a:ahLst/>
            <a:cxnLst/>
            <a:rect r="r" b="b" t="t" l="l"/>
            <a:pathLst>
              <a:path h="1770344" w="624449">
                <a:moveTo>
                  <a:pt x="624449" y="1770344"/>
                </a:moveTo>
                <a:lnTo>
                  <a:pt x="0" y="1770344"/>
                </a:lnTo>
                <a:lnTo>
                  <a:pt x="0" y="0"/>
                </a:lnTo>
                <a:lnTo>
                  <a:pt x="624449" y="0"/>
                </a:lnTo>
                <a:lnTo>
                  <a:pt x="624449" y="177034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false" rot="-10800000">
            <a:off x="-15395" y="0"/>
            <a:ext cx="2549171" cy="5270842"/>
          </a:xfrm>
          <a:custGeom>
            <a:avLst/>
            <a:gdLst/>
            <a:ahLst/>
            <a:cxnLst/>
            <a:rect r="r" b="b" t="t" l="l"/>
            <a:pathLst>
              <a:path h="5270842" w="2549171">
                <a:moveTo>
                  <a:pt x="2549171" y="0"/>
                </a:moveTo>
                <a:lnTo>
                  <a:pt x="0" y="0"/>
                </a:lnTo>
                <a:lnTo>
                  <a:pt x="0" y="5270842"/>
                </a:lnTo>
                <a:lnTo>
                  <a:pt x="2549171" y="5270842"/>
                </a:lnTo>
                <a:lnTo>
                  <a:pt x="254917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0800000">
            <a:off x="15757879" y="0"/>
            <a:ext cx="2549171" cy="5270842"/>
          </a:xfrm>
          <a:custGeom>
            <a:avLst/>
            <a:gdLst/>
            <a:ahLst/>
            <a:cxnLst/>
            <a:rect r="r" b="b" t="t" l="l"/>
            <a:pathLst>
              <a:path h="5270842" w="2549171">
                <a:moveTo>
                  <a:pt x="0" y="0"/>
                </a:moveTo>
                <a:lnTo>
                  <a:pt x="2549171" y="0"/>
                </a:lnTo>
                <a:lnTo>
                  <a:pt x="2549171" y="5270842"/>
                </a:lnTo>
                <a:lnTo>
                  <a:pt x="0" y="52708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818802">
            <a:off x="-983065" y="2892003"/>
            <a:ext cx="3655226" cy="7557798"/>
          </a:xfrm>
          <a:custGeom>
            <a:avLst/>
            <a:gdLst/>
            <a:ahLst/>
            <a:cxnLst/>
            <a:rect r="r" b="b" t="t" l="l"/>
            <a:pathLst>
              <a:path h="7557798" w="3655226">
                <a:moveTo>
                  <a:pt x="0" y="0"/>
                </a:moveTo>
                <a:lnTo>
                  <a:pt x="3655226" y="0"/>
                </a:lnTo>
                <a:lnTo>
                  <a:pt x="3655226" y="7557798"/>
                </a:lnTo>
                <a:lnTo>
                  <a:pt x="0" y="75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true" flipV="false" rot="-696796">
            <a:off x="15483649" y="2925969"/>
            <a:ext cx="3655226" cy="7557798"/>
          </a:xfrm>
          <a:custGeom>
            <a:avLst/>
            <a:gdLst/>
            <a:ahLst/>
            <a:cxnLst/>
            <a:rect r="r" b="b" t="t" l="l"/>
            <a:pathLst>
              <a:path h="7557798" w="3655226">
                <a:moveTo>
                  <a:pt x="3655226" y="0"/>
                </a:moveTo>
                <a:lnTo>
                  <a:pt x="0" y="0"/>
                </a:lnTo>
                <a:lnTo>
                  <a:pt x="0" y="7557799"/>
                </a:lnTo>
                <a:lnTo>
                  <a:pt x="3655226" y="7557799"/>
                </a:lnTo>
                <a:lnTo>
                  <a:pt x="3655226"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2247316" y="3150626"/>
            <a:ext cx="385291" cy="402945"/>
            <a:chOff x="0" y="0"/>
            <a:chExt cx="101476" cy="106125"/>
          </a:xfrm>
        </p:grpSpPr>
        <p:sp>
          <p:nvSpPr>
            <p:cNvPr name="Freeform 9" id="9"/>
            <p:cNvSpPr/>
            <p:nvPr/>
          </p:nvSpPr>
          <p:spPr>
            <a:xfrm flipH="false" flipV="false" rot="0">
              <a:off x="0" y="0"/>
              <a:ext cx="101476" cy="106125"/>
            </a:xfrm>
            <a:custGeom>
              <a:avLst/>
              <a:gdLst/>
              <a:ahLst/>
              <a:cxnLst/>
              <a:rect r="r" b="b" t="t" l="l"/>
              <a:pathLst>
                <a:path h="106125" w="101476">
                  <a:moveTo>
                    <a:pt x="0" y="0"/>
                  </a:moveTo>
                  <a:lnTo>
                    <a:pt x="101476" y="0"/>
                  </a:lnTo>
                  <a:lnTo>
                    <a:pt x="101476" y="106125"/>
                  </a:lnTo>
                  <a:lnTo>
                    <a:pt x="0" y="106125"/>
                  </a:lnTo>
                  <a:close/>
                </a:path>
              </a:pathLst>
            </a:custGeom>
            <a:solidFill>
              <a:srgbClr val="D1B852"/>
            </a:solidFill>
          </p:spPr>
        </p:sp>
        <p:sp>
          <p:nvSpPr>
            <p:cNvPr name="TextBox 10" id="10"/>
            <p:cNvSpPr txBox="true"/>
            <p:nvPr/>
          </p:nvSpPr>
          <p:spPr>
            <a:xfrm>
              <a:off x="0" y="-38100"/>
              <a:ext cx="101476" cy="144225"/>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4304120" y="1655071"/>
            <a:ext cx="11614558" cy="769188"/>
          </a:xfrm>
          <a:prstGeom prst="rect">
            <a:avLst/>
          </a:prstGeom>
        </p:spPr>
        <p:txBody>
          <a:bodyPr anchor="t" rtlCol="false" tIns="0" lIns="0" bIns="0" rIns="0">
            <a:spAutoFit/>
          </a:bodyPr>
          <a:lstStyle/>
          <a:p>
            <a:pPr algn="l">
              <a:lnSpc>
                <a:spcPts val="5991"/>
              </a:lnSpc>
            </a:pPr>
            <a:r>
              <a:rPr lang="en-US" sz="5164" b="true">
                <a:solidFill>
                  <a:srgbClr val="FFFFFF"/>
                </a:solidFill>
                <a:latin typeface="Maven Pro Heavy"/>
                <a:ea typeface="Maven Pro Heavy"/>
                <a:cs typeface="Maven Pro Heavy"/>
                <a:sym typeface="Maven Pro Heavy"/>
              </a:rPr>
              <a:t>Judgemental Sampling</a:t>
            </a:r>
          </a:p>
        </p:txBody>
      </p:sp>
      <p:sp>
        <p:nvSpPr>
          <p:cNvPr name="TextBox 12" id="12"/>
          <p:cNvSpPr txBox="true"/>
          <p:nvPr/>
        </p:nvSpPr>
        <p:spPr>
          <a:xfrm rot="0">
            <a:off x="2882548" y="3093476"/>
            <a:ext cx="12625391" cy="2693999"/>
          </a:xfrm>
          <a:prstGeom prst="rect">
            <a:avLst/>
          </a:prstGeom>
        </p:spPr>
        <p:txBody>
          <a:bodyPr anchor="t" rtlCol="false" tIns="0" lIns="0" bIns="0" rIns="0">
            <a:spAutoFit/>
          </a:bodyPr>
          <a:lstStyle/>
          <a:p>
            <a:pPr algn="just">
              <a:lnSpc>
                <a:spcPts val="4286"/>
              </a:lnSpc>
            </a:pPr>
            <a:r>
              <a:rPr lang="en-US" sz="3062">
                <a:solidFill>
                  <a:srgbClr val="FFFFFF"/>
                </a:solidFill>
                <a:latin typeface="Hind Jalandhar"/>
                <a:ea typeface="Hind Jalandhar"/>
                <a:cs typeface="Hind Jalandhar"/>
                <a:sym typeface="Hind Jalandhar"/>
              </a:rPr>
              <a:t>Peneliti menggunakan pengetahuan dan pengalamannya untuk memilih sampel yang dianggap paling relevan dengan penelitian. Teknik ini digunakan untuk eksplorasi masalah tertentu. Contoh penerapan: memilih perusahaan inovatif untuk meneliti strategi inovasi bisnis.</a:t>
            </a:r>
          </a:p>
          <a:p>
            <a:pPr algn="just">
              <a:lnSpc>
                <a:spcPts val="4286"/>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111" r="0" b="-9111"/>
            </a:stretch>
          </a:blipFill>
        </p:spPr>
      </p:sp>
      <p:grpSp>
        <p:nvGrpSpPr>
          <p:cNvPr name="Group 3" id="3"/>
          <p:cNvGrpSpPr/>
          <p:nvPr/>
        </p:nvGrpSpPr>
        <p:grpSpPr>
          <a:xfrm rot="0">
            <a:off x="685003" y="776779"/>
            <a:ext cx="16917995" cy="8733442"/>
            <a:chOff x="0" y="0"/>
            <a:chExt cx="4455768" cy="2300166"/>
          </a:xfrm>
        </p:grpSpPr>
        <p:sp>
          <p:nvSpPr>
            <p:cNvPr name="Freeform 4" id="4"/>
            <p:cNvSpPr/>
            <p:nvPr/>
          </p:nvSpPr>
          <p:spPr>
            <a:xfrm flipH="false" flipV="false" rot="0">
              <a:off x="0" y="0"/>
              <a:ext cx="4455768" cy="2300166"/>
            </a:xfrm>
            <a:custGeom>
              <a:avLst/>
              <a:gdLst/>
              <a:ahLst/>
              <a:cxnLst/>
              <a:rect r="r" b="b" t="t" l="l"/>
              <a:pathLst>
                <a:path h="2300166" w="4455768">
                  <a:moveTo>
                    <a:pt x="0" y="0"/>
                  </a:moveTo>
                  <a:lnTo>
                    <a:pt x="4455768" y="0"/>
                  </a:lnTo>
                  <a:lnTo>
                    <a:pt x="4455768" y="2300166"/>
                  </a:lnTo>
                  <a:lnTo>
                    <a:pt x="0" y="2300166"/>
                  </a:lnTo>
                  <a:close/>
                </a:path>
              </a:pathLst>
            </a:custGeom>
            <a:solidFill>
              <a:srgbClr val="000000">
                <a:alpha val="0"/>
              </a:srgbClr>
            </a:solidFill>
            <a:ln w="95250" cap="sq">
              <a:solidFill>
                <a:srgbClr val="B8A141"/>
              </a:solidFill>
              <a:prstDash val="solid"/>
              <a:miter/>
            </a:ln>
          </p:spPr>
        </p:sp>
        <p:sp>
          <p:nvSpPr>
            <p:cNvPr name="TextBox 5" id="5"/>
            <p:cNvSpPr txBox="true"/>
            <p:nvPr/>
          </p:nvSpPr>
          <p:spPr>
            <a:xfrm>
              <a:off x="0" y="-38100"/>
              <a:ext cx="4455768" cy="233826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5400000">
            <a:off x="3106723" y="1149730"/>
            <a:ext cx="624449" cy="1770344"/>
          </a:xfrm>
          <a:custGeom>
            <a:avLst/>
            <a:gdLst/>
            <a:ahLst/>
            <a:cxnLst/>
            <a:rect r="r" b="b" t="t" l="l"/>
            <a:pathLst>
              <a:path h="1770344" w="624449">
                <a:moveTo>
                  <a:pt x="624449" y="1770344"/>
                </a:moveTo>
                <a:lnTo>
                  <a:pt x="0" y="1770344"/>
                </a:lnTo>
                <a:lnTo>
                  <a:pt x="0" y="0"/>
                </a:lnTo>
                <a:lnTo>
                  <a:pt x="624449" y="0"/>
                </a:lnTo>
                <a:lnTo>
                  <a:pt x="624449" y="177034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false" rot="-10800000">
            <a:off x="-15395" y="0"/>
            <a:ext cx="2549171" cy="5270842"/>
          </a:xfrm>
          <a:custGeom>
            <a:avLst/>
            <a:gdLst/>
            <a:ahLst/>
            <a:cxnLst/>
            <a:rect r="r" b="b" t="t" l="l"/>
            <a:pathLst>
              <a:path h="5270842" w="2549171">
                <a:moveTo>
                  <a:pt x="2549171" y="0"/>
                </a:moveTo>
                <a:lnTo>
                  <a:pt x="0" y="0"/>
                </a:lnTo>
                <a:lnTo>
                  <a:pt x="0" y="5270842"/>
                </a:lnTo>
                <a:lnTo>
                  <a:pt x="2549171" y="5270842"/>
                </a:lnTo>
                <a:lnTo>
                  <a:pt x="254917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10800000">
            <a:off x="15757879" y="0"/>
            <a:ext cx="2549171" cy="5270842"/>
          </a:xfrm>
          <a:custGeom>
            <a:avLst/>
            <a:gdLst/>
            <a:ahLst/>
            <a:cxnLst/>
            <a:rect r="r" b="b" t="t" l="l"/>
            <a:pathLst>
              <a:path h="5270842" w="2549171">
                <a:moveTo>
                  <a:pt x="0" y="0"/>
                </a:moveTo>
                <a:lnTo>
                  <a:pt x="2549171" y="0"/>
                </a:lnTo>
                <a:lnTo>
                  <a:pt x="2549171" y="5270842"/>
                </a:lnTo>
                <a:lnTo>
                  <a:pt x="0" y="52708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818802">
            <a:off x="-983065" y="2892003"/>
            <a:ext cx="3655226" cy="7557798"/>
          </a:xfrm>
          <a:custGeom>
            <a:avLst/>
            <a:gdLst/>
            <a:ahLst/>
            <a:cxnLst/>
            <a:rect r="r" b="b" t="t" l="l"/>
            <a:pathLst>
              <a:path h="7557798" w="3655226">
                <a:moveTo>
                  <a:pt x="0" y="0"/>
                </a:moveTo>
                <a:lnTo>
                  <a:pt x="3655226" y="0"/>
                </a:lnTo>
                <a:lnTo>
                  <a:pt x="3655226" y="7557798"/>
                </a:lnTo>
                <a:lnTo>
                  <a:pt x="0" y="75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true" flipV="false" rot="-696796">
            <a:off x="15483649" y="2925969"/>
            <a:ext cx="3655226" cy="7557798"/>
          </a:xfrm>
          <a:custGeom>
            <a:avLst/>
            <a:gdLst/>
            <a:ahLst/>
            <a:cxnLst/>
            <a:rect r="r" b="b" t="t" l="l"/>
            <a:pathLst>
              <a:path h="7557798" w="3655226">
                <a:moveTo>
                  <a:pt x="3655226" y="0"/>
                </a:moveTo>
                <a:lnTo>
                  <a:pt x="0" y="0"/>
                </a:lnTo>
                <a:lnTo>
                  <a:pt x="0" y="7557799"/>
                </a:lnTo>
                <a:lnTo>
                  <a:pt x="3655226" y="7557799"/>
                </a:lnTo>
                <a:lnTo>
                  <a:pt x="365522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2151498" y="3749315"/>
            <a:ext cx="3781646" cy="3781646"/>
          </a:xfrm>
          <a:custGeom>
            <a:avLst/>
            <a:gdLst/>
            <a:ahLst/>
            <a:cxnLst/>
            <a:rect r="r" b="b" t="t" l="l"/>
            <a:pathLst>
              <a:path h="3781646" w="3781646">
                <a:moveTo>
                  <a:pt x="0" y="0"/>
                </a:moveTo>
                <a:lnTo>
                  <a:pt x="3781646" y="0"/>
                </a:lnTo>
                <a:lnTo>
                  <a:pt x="3781646" y="3781646"/>
                </a:lnTo>
                <a:lnTo>
                  <a:pt x="0" y="37816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2" id="12"/>
          <p:cNvSpPr txBox="true"/>
          <p:nvPr/>
        </p:nvSpPr>
        <p:spPr>
          <a:xfrm rot="0">
            <a:off x="4713347" y="1655071"/>
            <a:ext cx="10530105" cy="769188"/>
          </a:xfrm>
          <a:prstGeom prst="rect">
            <a:avLst/>
          </a:prstGeom>
        </p:spPr>
        <p:txBody>
          <a:bodyPr anchor="t" rtlCol="false" tIns="0" lIns="0" bIns="0" rIns="0">
            <a:spAutoFit/>
          </a:bodyPr>
          <a:lstStyle/>
          <a:p>
            <a:pPr algn="l">
              <a:lnSpc>
                <a:spcPts val="5991"/>
              </a:lnSpc>
            </a:pPr>
            <a:r>
              <a:rPr lang="en-US" sz="5164" b="true">
                <a:solidFill>
                  <a:srgbClr val="FFFFFF"/>
                </a:solidFill>
                <a:latin typeface="Maven Pro Heavy"/>
                <a:ea typeface="Maven Pro Heavy"/>
                <a:cs typeface="Maven Pro Heavy"/>
                <a:sym typeface="Maven Pro Heavy"/>
              </a:rPr>
              <a:t>Volunteer Sampling</a:t>
            </a:r>
          </a:p>
        </p:txBody>
      </p:sp>
      <p:sp>
        <p:nvSpPr>
          <p:cNvPr name="TextBox 13" id="13"/>
          <p:cNvSpPr txBox="true"/>
          <p:nvPr/>
        </p:nvSpPr>
        <p:spPr>
          <a:xfrm rot="0">
            <a:off x="2533776" y="2814018"/>
            <a:ext cx="9130275" cy="3201364"/>
          </a:xfrm>
          <a:prstGeom prst="rect">
            <a:avLst/>
          </a:prstGeom>
        </p:spPr>
        <p:txBody>
          <a:bodyPr anchor="t" rtlCol="false" tIns="0" lIns="0" bIns="0" rIns="0">
            <a:spAutoFit/>
          </a:bodyPr>
          <a:lstStyle/>
          <a:p>
            <a:pPr algn="just">
              <a:lnSpc>
                <a:spcPts val="4286"/>
              </a:lnSpc>
            </a:pPr>
            <a:r>
              <a:rPr lang="en-US" sz="3062">
                <a:solidFill>
                  <a:srgbClr val="FFFFFF"/>
                </a:solidFill>
                <a:latin typeface="Hind Jalandhar"/>
                <a:ea typeface="Hind Jalandhar"/>
                <a:cs typeface="Hind Jalandhar"/>
                <a:sym typeface="Hind Jalandhar"/>
              </a:rPr>
              <a:t>Sampel terdiri dari individu yang secara sukarela berpartisipasi dalam penelitian, yang sering kali menyebabkan bias karena bergantung pada kesediaan sukarelawan. Contoh penerapan: mengundang orang untuk mengisi survei online tanpa seleksi tertentu.</a:t>
            </a:r>
          </a:p>
          <a:p>
            <a:pPr algn="just">
              <a:lnSpc>
                <a:spcPts val="4006"/>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111" r="0" b="-9111"/>
            </a:stretch>
          </a:blipFill>
        </p:spPr>
      </p:sp>
      <p:grpSp>
        <p:nvGrpSpPr>
          <p:cNvPr name="Group 3" id="3"/>
          <p:cNvGrpSpPr/>
          <p:nvPr/>
        </p:nvGrpSpPr>
        <p:grpSpPr>
          <a:xfrm rot="0">
            <a:off x="685003" y="776779"/>
            <a:ext cx="16917995" cy="8733442"/>
            <a:chOff x="0" y="0"/>
            <a:chExt cx="4455768" cy="2300166"/>
          </a:xfrm>
        </p:grpSpPr>
        <p:sp>
          <p:nvSpPr>
            <p:cNvPr name="Freeform 4" id="4"/>
            <p:cNvSpPr/>
            <p:nvPr/>
          </p:nvSpPr>
          <p:spPr>
            <a:xfrm flipH="false" flipV="false" rot="0">
              <a:off x="0" y="0"/>
              <a:ext cx="4455768" cy="2300166"/>
            </a:xfrm>
            <a:custGeom>
              <a:avLst/>
              <a:gdLst/>
              <a:ahLst/>
              <a:cxnLst/>
              <a:rect r="r" b="b" t="t" l="l"/>
              <a:pathLst>
                <a:path h="2300166" w="4455768">
                  <a:moveTo>
                    <a:pt x="0" y="0"/>
                  </a:moveTo>
                  <a:lnTo>
                    <a:pt x="4455768" y="0"/>
                  </a:lnTo>
                  <a:lnTo>
                    <a:pt x="4455768" y="2300166"/>
                  </a:lnTo>
                  <a:lnTo>
                    <a:pt x="0" y="2300166"/>
                  </a:lnTo>
                  <a:close/>
                </a:path>
              </a:pathLst>
            </a:custGeom>
            <a:solidFill>
              <a:srgbClr val="000000">
                <a:alpha val="0"/>
              </a:srgbClr>
            </a:solidFill>
            <a:ln w="95250" cap="sq">
              <a:solidFill>
                <a:srgbClr val="B8A141"/>
              </a:solidFill>
              <a:prstDash val="solid"/>
              <a:miter/>
            </a:ln>
          </p:spPr>
        </p:sp>
        <p:sp>
          <p:nvSpPr>
            <p:cNvPr name="TextBox 5" id="5"/>
            <p:cNvSpPr txBox="true"/>
            <p:nvPr/>
          </p:nvSpPr>
          <p:spPr>
            <a:xfrm>
              <a:off x="0" y="-38100"/>
              <a:ext cx="4455768" cy="2338266"/>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true" flipV="true" rot="-5400000">
            <a:off x="2820264" y="1149730"/>
            <a:ext cx="624449" cy="1770344"/>
          </a:xfrm>
          <a:custGeom>
            <a:avLst/>
            <a:gdLst/>
            <a:ahLst/>
            <a:cxnLst/>
            <a:rect r="r" b="b" t="t" l="l"/>
            <a:pathLst>
              <a:path h="1770344" w="624449">
                <a:moveTo>
                  <a:pt x="624449" y="1770344"/>
                </a:moveTo>
                <a:lnTo>
                  <a:pt x="0" y="1770344"/>
                </a:lnTo>
                <a:lnTo>
                  <a:pt x="0" y="0"/>
                </a:lnTo>
                <a:lnTo>
                  <a:pt x="624449" y="0"/>
                </a:lnTo>
                <a:lnTo>
                  <a:pt x="624449" y="1770344"/>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false" rot="-10800000">
            <a:off x="-15395" y="0"/>
            <a:ext cx="2549171" cy="5270842"/>
          </a:xfrm>
          <a:custGeom>
            <a:avLst/>
            <a:gdLst/>
            <a:ahLst/>
            <a:cxnLst/>
            <a:rect r="r" b="b" t="t" l="l"/>
            <a:pathLst>
              <a:path h="5270842" w="2549171">
                <a:moveTo>
                  <a:pt x="2549171" y="0"/>
                </a:moveTo>
                <a:lnTo>
                  <a:pt x="0" y="0"/>
                </a:lnTo>
                <a:lnTo>
                  <a:pt x="0" y="5270842"/>
                </a:lnTo>
                <a:lnTo>
                  <a:pt x="2549171" y="5270842"/>
                </a:lnTo>
                <a:lnTo>
                  <a:pt x="2549171"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10800000">
            <a:off x="15757879" y="0"/>
            <a:ext cx="2549171" cy="5270842"/>
          </a:xfrm>
          <a:custGeom>
            <a:avLst/>
            <a:gdLst/>
            <a:ahLst/>
            <a:cxnLst/>
            <a:rect r="r" b="b" t="t" l="l"/>
            <a:pathLst>
              <a:path h="5270842" w="2549171">
                <a:moveTo>
                  <a:pt x="0" y="0"/>
                </a:moveTo>
                <a:lnTo>
                  <a:pt x="2549171" y="0"/>
                </a:lnTo>
                <a:lnTo>
                  <a:pt x="2549171" y="5270842"/>
                </a:lnTo>
                <a:lnTo>
                  <a:pt x="0" y="52708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818802">
            <a:off x="-983065" y="2892003"/>
            <a:ext cx="3655226" cy="7557798"/>
          </a:xfrm>
          <a:custGeom>
            <a:avLst/>
            <a:gdLst/>
            <a:ahLst/>
            <a:cxnLst/>
            <a:rect r="r" b="b" t="t" l="l"/>
            <a:pathLst>
              <a:path h="7557798" w="3655226">
                <a:moveTo>
                  <a:pt x="0" y="0"/>
                </a:moveTo>
                <a:lnTo>
                  <a:pt x="3655226" y="0"/>
                </a:lnTo>
                <a:lnTo>
                  <a:pt x="3655226" y="7557798"/>
                </a:lnTo>
                <a:lnTo>
                  <a:pt x="0" y="75577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true" flipV="false" rot="-696796">
            <a:off x="15483649" y="2925969"/>
            <a:ext cx="3655226" cy="7557798"/>
          </a:xfrm>
          <a:custGeom>
            <a:avLst/>
            <a:gdLst/>
            <a:ahLst/>
            <a:cxnLst/>
            <a:rect r="r" b="b" t="t" l="l"/>
            <a:pathLst>
              <a:path h="7557798" w="3655226">
                <a:moveTo>
                  <a:pt x="3655226" y="0"/>
                </a:moveTo>
                <a:lnTo>
                  <a:pt x="0" y="0"/>
                </a:lnTo>
                <a:lnTo>
                  <a:pt x="0" y="7557799"/>
                </a:lnTo>
                <a:lnTo>
                  <a:pt x="3655226" y="7557799"/>
                </a:lnTo>
                <a:lnTo>
                  <a:pt x="3655226"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4304120" y="1655071"/>
            <a:ext cx="11614558" cy="769188"/>
          </a:xfrm>
          <a:prstGeom prst="rect">
            <a:avLst/>
          </a:prstGeom>
        </p:spPr>
        <p:txBody>
          <a:bodyPr anchor="t" rtlCol="false" tIns="0" lIns="0" bIns="0" rIns="0">
            <a:spAutoFit/>
          </a:bodyPr>
          <a:lstStyle/>
          <a:p>
            <a:pPr algn="l">
              <a:lnSpc>
                <a:spcPts val="5991"/>
              </a:lnSpc>
            </a:pPr>
            <a:r>
              <a:rPr lang="en-US" sz="5164" b="true">
                <a:solidFill>
                  <a:srgbClr val="FFFFFF"/>
                </a:solidFill>
                <a:latin typeface="Maven Pro Heavy"/>
                <a:ea typeface="Maven Pro Heavy"/>
                <a:cs typeface="Maven Pro Heavy"/>
                <a:sym typeface="Maven Pro Heavy"/>
              </a:rPr>
              <a:t>Kesimpulan</a:t>
            </a:r>
          </a:p>
        </p:txBody>
      </p:sp>
      <p:sp>
        <p:nvSpPr>
          <p:cNvPr name="TextBox 12" id="12"/>
          <p:cNvSpPr txBox="true"/>
          <p:nvPr/>
        </p:nvSpPr>
        <p:spPr>
          <a:xfrm rot="0">
            <a:off x="2533776" y="2970707"/>
            <a:ext cx="12875331" cy="2508578"/>
          </a:xfrm>
          <a:prstGeom prst="rect">
            <a:avLst/>
          </a:prstGeom>
        </p:spPr>
        <p:txBody>
          <a:bodyPr anchor="t" rtlCol="false" tIns="0" lIns="0" bIns="0" rIns="0">
            <a:spAutoFit/>
          </a:bodyPr>
          <a:lstStyle/>
          <a:p>
            <a:pPr algn="just">
              <a:lnSpc>
                <a:spcPts val="4006"/>
              </a:lnSpc>
            </a:pPr>
            <a:r>
              <a:rPr lang="en-US" sz="2862">
                <a:solidFill>
                  <a:srgbClr val="FFFFFF"/>
                </a:solidFill>
                <a:latin typeface="Hind Jalandhar"/>
                <a:ea typeface="Hind Jalandhar"/>
                <a:cs typeface="Hind Jalandhar"/>
                <a:sym typeface="Hind Jalandhar"/>
              </a:rPr>
              <a:t>Dalam penelitian, pemilihan teknik sampling yang tepat sangat penting untuk mendapatkan hasil yang akurat dan representatif. Setiap teknik memiliki kelebihan dan kekurangan, dan pemilihan metode harus disesuaikan dengan tujuan dan kondisi penelitian.</a:t>
            </a:r>
          </a:p>
          <a:p>
            <a:pPr algn="just">
              <a:lnSpc>
                <a:spcPts val="4006"/>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111" r="0" b="-9111"/>
            </a:stretch>
          </a:blipFill>
        </p:spPr>
      </p:sp>
      <p:sp>
        <p:nvSpPr>
          <p:cNvPr name="Freeform 3" id="3"/>
          <p:cNvSpPr/>
          <p:nvPr/>
        </p:nvSpPr>
        <p:spPr>
          <a:xfrm flipH="true" flipV="false" rot="-10800000">
            <a:off x="-15395" y="0"/>
            <a:ext cx="2549171" cy="5270842"/>
          </a:xfrm>
          <a:custGeom>
            <a:avLst/>
            <a:gdLst/>
            <a:ahLst/>
            <a:cxnLst/>
            <a:rect r="r" b="b" t="t" l="l"/>
            <a:pathLst>
              <a:path h="5270842" w="2549171">
                <a:moveTo>
                  <a:pt x="2549171" y="0"/>
                </a:moveTo>
                <a:lnTo>
                  <a:pt x="0" y="0"/>
                </a:lnTo>
                <a:lnTo>
                  <a:pt x="0" y="5270842"/>
                </a:lnTo>
                <a:lnTo>
                  <a:pt x="2549171" y="5270842"/>
                </a:lnTo>
                <a:lnTo>
                  <a:pt x="2549171"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2179369" y="798535"/>
            <a:ext cx="5699403" cy="1243506"/>
          </a:xfrm>
          <a:custGeom>
            <a:avLst/>
            <a:gdLst/>
            <a:ahLst/>
            <a:cxnLst/>
            <a:rect r="r" b="b" t="t" l="l"/>
            <a:pathLst>
              <a:path h="1243506" w="5699403">
                <a:moveTo>
                  <a:pt x="0" y="0"/>
                </a:moveTo>
                <a:lnTo>
                  <a:pt x="5699403" y="0"/>
                </a:lnTo>
                <a:lnTo>
                  <a:pt x="5699403" y="1243506"/>
                </a:lnTo>
                <a:lnTo>
                  <a:pt x="0" y="12435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false" rot="0">
            <a:off x="680039" y="8205555"/>
            <a:ext cx="5699403" cy="1243506"/>
          </a:xfrm>
          <a:custGeom>
            <a:avLst/>
            <a:gdLst/>
            <a:ahLst/>
            <a:cxnLst/>
            <a:rect r="r" b="b" t="t" l="l"/>
            <a:pathLst>
              <a:path h="1243506" w="5699403">
                <a:moveTo>
                  <a:pt x="5699403" y="0"/>
                </a:moveTo>
                <a:lnTo>
                  <a:pt x="0" y="0"/>
                </a:lnTo>
                <a:lnTo>
                  <a:pt x="0" y="1243507"/>
                </a:lnTo>
                <a:lnTo>
                  <a:pt x="5699403" y="1243507"/>
                </a:lnTo>
                <a:lnTo>
                  <a:pt x="5699403"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10800000">
            <a:off x="15757879" y="0"/>
            <a:ext cx="2549171" cy="5270842"/>
          </a:xfrm>
          <a:custGeom>
            <a:avLst/>
            <a:gdLst/>
            <a:ahLst/>
            <a:cxnLst/>
            <a:rect r="r" b="b" t="t" l="l"/>
            <a:pathLst>
              <a:path h="5270842" w="2549171">
                <a:moveTo>
                  <a:pt x="0" y="0"/>
                </a:moveTo>
                <a:lnTo>
                  <a:pt x="2549171" y="0"/>
                </a:lnTo>
                <a:lnTo>
                  <a:pt x="2549171" y="5270842"/>
                </a:lnTo>
                <a:lnTo>
                  <a:pt x="0" y="52708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25485" y="2729202"/>
            <a:ext cx="3655226" cy="7557798"/>
          </a:xfrm>
          <a:custGeom>
            <a:avLst/>
            <a:gdLst/>
            <a:ahLst/>
            <a:cxnLst/>
            <a:rect r="r" b="b" t="t" l="l"/>
            <a:pathLst>
              <a:path h="7557798" w="3655226">
                <a:moveTo>
                  <a:pt x="0" y="0"/>
                </a:moveTo>
                <a:lnTo>
                  <a:pt x="3655226" y="0"/>
                </a:lnTo>
                <a:lnTo>
                  <a:pt x="3655226" y="7557798"/>
                </a:lnTo>
                <a:lnTo>
                  <a:pt x="0" y="755779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false" rot="0">
            <a:off x="14670874" y="2729202"/>
            <a:ext cx="3655226" cy="7557798"/>
          </a:xfrm>
          <a:custGeom>
            <a:avLst/>
            <a:gdLst/>
            <a:ahLst/>
            <a:cxnLst/>
            <a:rect r="r" b="b" t="t" l="l"/>
            <a:pathLst>
              <a:path h="7557798" w="3655226">
                <a:moveTo>
                  <a:pt x="3655226" y="0"/>
                </a:moveTo>
                <a:lnTo>
                  <a:pt x="0" y="0"/>
                </a:lnTo>
                <a:lnTo>
                  <a:pt x="0" y="7557798"/>
                </a:lnTo>
                <a:lnTo>
                  <a:pt x="3655226" y="7557798"/>
                </a:lnTo>
                <a:lnTo>
                  <a:pt x="365522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2442736" y="4409662"/>
            <a:ext cx="13315143" cy="1308056"/>
          </a:xfrm>
          <a:prstGeom prst="rect">
            <a:avLst/>
          </a:prstGeom>
        </p:spPr>
        <p:txBody>
          <a:bodyPr anchor="t" rtlCol="false" tIns="0" lIns="0" bIns="0" rIns="0">
            <a:spAutoFit/>
          </a:bodyPr>
          <a:lstStyle/>
          <a:p>
            <a:pPr algn="ctr">
              <a:lnSpc>
                <a:spcPts val="10243"/>
              </a:lnSpc>
            </a:pPr>
            <a:r>
              <a:rPr lang="en-US" b="true" sz="8830">
                <a:solidFill>
                  <a:srgbClr val="FFFFFF"/>
                </a:solidFill>
                <a:latin typeface="Maven Pro Heavy"/>
                <a:ea typeface="Maven Pro Heavy"/>
                <a:cs typeface="Maven Pro Heavy"/>
                <a:sym typeface="Maven Pro Heavy"/>
              </a:rPr>
              <a:t>TERIMA KASIH</a:t>
            </a:r>
          </a:p>
        </p:txBody>
      </p:sp>
      <p:grpSp>
        <p:nvGrpSpPr>
          <p:cNvPr name="Group 10" id="10"/>
          <p:cNvGrpSpPr/>
          <p:nvPr/>
        </p:nvGrpSpPr>
        <p:grpSpPr>
          <a:xfrm rot="0">
            <a:off x="13619906" y="4895975"/>
            <a:ext cx="424225" cy="424225"/>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1B852"/>
            </a:solidFill>
          </p:spPr>
        </p:sp>
        <p:sp>
          <p:nvSpPr>
            <p:cNvPr name="TextBox 12" id="1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3" id="13"/>
          <p:cNvGrpSpPr/>
          <p:nvPr/>
        </p:nvGrpSpPr>
        <p:grpSpPr>
          <a:xfrm rot="0">
            <a:off x="3240052" y="4837290"/>
            <a:ext cx="424225" cy="424225"/>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1B852"/>
            </a:solidFill>
          </p:spPr>
        </p:sp>
        <p:sp>
          <p:nvSpPr>
            <p:cNvPr name="TextBox 15" id="1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14281526" y="4895975"/>
            <a:ext cx="424225" cy="424225"/>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1B852"/>
            </a:solidFill>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0">
            <a:off x="3901672" y="4837290"/>
            <a:ext cx="424225" cy="424225"/>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1B852"/>
            </a:solidFill>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DAGUSPKKOZo</dc:identifier>
  <dcterms:modified xsi:type="dcterms:W3CDTF">2011-08-01T06:04:30Z</dcterms:modified>
  <cp:revision>1</cp:revision>
  <dc:title>Hijau Modern Sederhana Korporat Strategi Bisnis Presentasi</dc:title>
</cp:coreProperties>
</file>